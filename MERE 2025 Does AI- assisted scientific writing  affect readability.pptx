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4" r:id="rId3"/>
    <p:sldMasterId id="214748371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Golos Text"/>
      <p:regular r:id="rId30"/>
      <p:bold r:id="rId31"/>
    </p:embeddedFont>
    <p:embeddedFont>
      <p:font typeface="Commissioner"/>
      <p:regular r:id="rId32"/>
      <p:bold r:id="rId33"/>
    </p:embeddedFont>
    <p:embeddedFont>
      <p:font typeface="Golos Text SemiBold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GolosText-bold.fntdata"/><Relationship Id="rId30" Type="http://schemas.openxmlformats.org/officeDocument/2006/relationships/font" Target="fonts/GolosText-regular.fntdata"/><Relationship Id="rId11" Type="http://schemas.openxmlformats.org/officeDocument/2006/relationships/slide" Target="slides/slide6.xml"/><Relationship Id="rId33" Type="http://schemas.openxmlformats.org/officeDocument/2006/relationships/font" Target="fonts/Commissioner-bold.fntdata"/><Relationship Id="rId10" Type="http://schemas.openxmlformats.org/officeDocument/2006/relationships/slide" Target="slides/slide5.xml"/><Relationship Id="rId32" Type="http://schemas.openxmlformats.org/officeDocument/2006/relationships/font" Target="fonts/Commissioner-regular.fntdata"/><Relationship Id="rId13" Type="http://schemas.openxmlformats.org/officeDocument/2006/relationships/slide" Target="slides/slide8.xml"/><Relationship Id="rId35" Type="http://schemas.openxmlformats.org/officeDocument/2006/relationships/font" Target="fonts/GolosTextSemiBold-bold.fntdata"/><Relationship Id="rId12" Type="http://schemas.openxmlformats.org/officeDocument/2006/relationships/slide" Target="slides/slide7.xml"/><Relationship Id="rId34" Type="http://schemas.openxmlformats.org/officeDocument/2006/relationships/font" Target="fonts/GolosTextSemiBold-regular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747bfd1ed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747bfd1ed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747bfd1ed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747bfd1ed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96636f90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a96636f90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a96636f90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a96636f90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336d459b97_0_3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336d459b97_0_3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11d0e38a952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11d0e38a952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a96636f90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a96636f90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a96636f90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a96636f90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Visual Trends Plot average scores over time → Shows overall pattern 2. Gradient Analysis (Segmented Regression) Calculate slope before vs. after 2023 → Did the rate of change accelerate? 3. Acceleration Analysis Find exact inflection point → When did the shift happen?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Visual Trends Plot ȳ(t) for t ∈ [2015, 2025] 2. Gradient Analysis m_pre : 2015-2023 m_post : 2023-2025 3. Acceleration Δm = m_post - m_pre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9937c2217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a9937c2217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Visual Trends Plot average scores over time → Shows overall pattern 2. Gradient Analysis (Segmented Regression) Calculate slope before vs. after 2023 → Did the rate of change accelerate? 3. Acceleration Analysis Find exact inflection point → When did the shift happen?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Visual Trends Plot ȳ(t) for t ∈ [2015, 2025] 2. Gradient Analysis m_pre : 2015-2023 m_post : 2023-2025 3. Acceleration Δm = m_post - m_pre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956de75c3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3a956de75c3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Visual Trend - simple visual observation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Line graph showing mean scores of each metric over time.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Higher scores mean lower readability i.e. more complex text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Hockey Stick shape of graph - Sharp upward spike starting in 2023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Upward spike happens across all three metrics (FKGL, ARI, Dale-Chall), suggesting the text is getting longer (sentences) and denser (vocabulary)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a956de75c3_0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a956de75c3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Analysis - quantification to confirm result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Used "Segmented Linear Regression" method to measure the rate of change before and after the 2022 release of ChatGPT - up to 2022 and post 2022.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Pre-LLM (Blue Dotted Line) - slope (m) was very low - approx 0.04 for ARI, indicating a slow evolution of language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Post-LLM (Red Solid Line) - slope jumps drastically - more than double to approx 0.9 for ARI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 - The rate of complexity more than doubled after 2022. This proves the visual spike in the previous slide is statistically significant.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g3a956de75c3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6" name="Google Shape;676;g3a956de75c3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Acceleration Analysis - further verification of observed trends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Inflection point:</a:t>
            </a:r>
            <a:r>
              <a:rPr lang="en">
                <a:solidFill>
                  <a:schemeClr val="dk1"/>
                </a:solidFill>
              </a:rPr>
              <a:t> graph identifies the specific year where the change of readability was most drastic.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Result:</a:t>
            </a:r>
            <a:r>
              <a:rPr lang="en">
                <a:solidFill>
                  <a:schemeClr val="dk1"/>
                </a:solidFill>
              </a:rPr>
              <a:t> The peak is seen at </a:t>
            </a:r>
            <a:r>
              <a:rPr b="1" lang="en">
                <a:solidFill>
                  <a:schemeClr val="dk1"/>
                </a:solidFill>
              </a:rPr>
              <a:t>2023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Early Adopters Hypothesis:</a:t>
            </a:r>
            <a:r>
              <a:rPr lang="en">
                <a:solidFill>
                  <a:schemeClr val="dk1"/>
                </a:solidFill>
              </a:rPr>
              <a:t> Mention that Computer Science shows the "cleanest" signal of the three domains.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Conclusion of this section:</a:t>
            </a:r>
            <a:r>
              <a:rPr lang="en">
                <a:solidFill>
                  <a:schemeClr val="dk1"/>
                </a:solidFill>
              </a:rPr>
              <a:t> This is evidence for hypothesis that AI-related fields, with early adopters of the technology itself, would show the earliest and steepest increase in language complexity and decrease in readability following the release of LLMs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a956de75c3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a956de75c3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a956de75c3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a956de75c3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Visual Trends - volatility, then convergence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Visual:</a:t>
            </a:r>
            <a:r>
              <a:rPr lang="en">
                <a:solidFill>
                  <a:schemeClr val="dk1"/>
                </a:solidFill>
              </a:rPr>
              <a:t> Line graph showing mean scores over time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"Pre-LLM" Noise (2015–2022):</a:t>
            </a:r>
            <a:r>
              <a:rPr lang="en">
                <a:solidFill>
                  <a:schemeClr val="dk1"/>
                </a:solidFill>
              </a:rPr>
              <a:t> Differs from Computer Science. The period 2015–2022 is characterized by </a:t>
            </a:r>
            <a:r>
              <a:rPr b="1" lang="en">
                <a:solidFill>
                  <a:schemeClr val="dk1"/>
                </a:solidFill>
              </a:rPr>
              <a:t>high volatility</a:t>
            </a:r>
            <a:r>
              <a:rPr lang="en">
                <a:solidFill>
                  <a:schemeClr val="dk1"/>
                </a:solidFill>
              </a:rPr>
              <a:t> (fluctuations) rather than a steady climb. There was no clear consensus on readability direction during this time.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"Post-LLM" Convergence (2023–2025):</a:t>
            </a:r>
            <a:r>
              <a:rPr lang="en">
                <a:solidFill>
                  <a:schemeClr val="dk1"/>
                </a:solidFill>
              </a:rPr>
              <a:t> Point to the right side of the graph. Despite the earlier chaos, all three metrics (ARI, FKGL, Dale-Chall) </a:t>
            </a:r>
            <a:r>
              <a:rPr b="1" lang="en">
                <a:solidFill>
                  <a:schemeClr val="dk1"/>
                </a:solidFill>
              </a:rPr>
              <a:t>converge</a:t>
            </a:r>
            <a:r>
              <a:rPr lang="en">
                <a:solidFill>
                  <a:schemeClr val="dk1"/>
                </a:solidFill>
              </a:rPr>
              <a:t> into a unified upward spike starting in 2023.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Key Takeaway:</a:t>
            </a:r>
            <a:r>
              <a:rPr lang="en">
                <a:solidFill>
                  <a:schemeClr val="dk1"/>
                </a:solidFill>
              </a:rPr>
              <a:t> The introduction of the external factor (2023) seems to have overridden the natural volatility of the field, forcing a uniform increase in text complexity.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a956de75c3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a956de75c3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 Gradient Analysis - Quantifying the Shift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Visual:</a:t>
            </a:r>
            <a:r>
              <a:rPr lang="en">
                <a:solidFill>
                  <a:schemeClr val="dk1"/>
                </a:solidFill>
              </a:rPr>
              <a:t> Segmented linear regression plot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Pre-LLM Gradient (Blue Dotted Line):</a:t>
            </a:r>
            <a:r>
              <a:rPr lang="en">
                <a:solidFill>
                  <a:schemeClr val="dk1"/>
                </a:solidFill>
              </a:rPr>
              <a:t> Regression line is an average of that volatile period. Shows a baseline trend, but the data points are scattered widely around 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Post-LLM Gradient (Red Solid Line):</a:t>
            </a:r>
            <a:r>
              <a:rPr lang="en">
                <a:solidFill>
                  <a:schemeClr val="dk1"/>
                </a:solidFill>
              </a:rPr>
              <a:t> Highlight the shift in 2023. The slope (m) steepens significantly and becomes positive.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Structural Break:</a:t>
            </a:r>
            <a:r>
              <a:rPr lang="en">
                <a:solidFill>
                  <a:schemeClr val="dk1"/>
                </a:solidFill>
              </a:rPr>
              <a:t> The data points after 2023 follow the regression line more closely than before, suggesting a systematic shift in writing style took hold.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a956de75c3_0_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3a956de75c3_0_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Acceleration Analysis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Result:</a:t>
            </a:r>
            <a:r>
              <a:rPr lang="en">
                <a:solidFill>
                  <a:schemeClr val="dk1"/>
                </a:solidFill>
              </a:rPr>
              <a:t> The acceleration graph shows a distinct peak at </a:t>
            </a:r>
            <a:r>
              <a:rPr b="1" lang="en">
                <a:solidFill>
                  <a:schemeClr val="dk1"/>
                </a:solidFill>
              </a:rPr>
              <a:t>2023</a:t>
            </a:r>
            <a:r>
              <a:rPr lang="en">
                <a:solidFill>
                  <a:schemeClr val="dk1"/>
                </a:solidFill>
              </a:rPr>
              <a:t>, just like Computer Science.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Cross-Disciplinary Phenomenon:</a:t>
            </a:r>
            <a:r>
              <a:rPr lang="en">
                <a:solidFill>
                  <a:schemeClr val="dk1"/>
                </a:solidFill>
              </a:rPr>
              <a:t> This is a crucial validation. It proves that the shift wasn't isolated to Tech/AI fields. The same external pressure (timing correlates with LLM availability) impacted the Medical field at the exact same moment, causing a sharp acceleration in complexity.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3a956de75c3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3a956de75c3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a956de75c3_0_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a956de75c3_0_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Visual Trends (Rising Baseline &amp; 2023 Uncertainty)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Pre-2023 Trend:</a:t>
            </a:r>
            <a:r>
              <a:rPr lang="en">
                <a:solidFill>
                  <a:schemeClr val="dk1"/>
                </a:solidFill>
              </a:rPr>
              <a:t> Unlike Medicine, the Business domain was </a:t>
            </a:r>
            <a:r>
              <a:rPr b="1" lang="en">
                <a:solidFill>
                  <a:schemeClr val="dk1"/>
                </a:solidFill>
              </a:rPr>
              <a:t>less volatile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between 2015 and 2022 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The 2023 "Shock":</a:t>
            </a:r>
            <a:r>
              <a:rPr lang="en">
                <a:solidFill>
                  <a:schemeClr val="dk1"/>
                </a:solidFill>
              </a:rPr>
              <a:t> Point specifically to the year 2023. Note the </a:t>
            </a:r>
            <a:r>
              <a:rPr b="1" lang="en">
                <a:solidFill>
                  <a:schemeClr val="dk1"/>
                </a:solidFill>
              </a:rPr>
              <a:t>massive error bars</a:t>
            </a:r>
            <a:r>
              <a:rPr lang="en">
                <a:solidFill>
                  <a:schemeClr val="dk1"/>
                </a:solidFill>
              </a:rPr>
              <a:t> (shaded region) and the sharp spike. This indicates a moment of high uncertainty and variance in the data. Need to investigate further.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Post-Shock Trajectory:</a:t>
            </a:r>
            <a:r>
              <a:rPr lang="en">
                <a:solidFill>
                  <a:schemeClr val="dk1"/>
                </a:solidFill>
              </a:rPr>
              <a:t> Following the volatile 2023 outlier, the trend stabilizes into a steep upward climb in 2024–2025, consistent with the other domains.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a956de75c3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a956de75c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Gradient Analysis (Acceleration of an Existing Trend)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Pre-LLM Gradient (Blue Dotted Line):</a:t>
            </a:r>
            <a:r>
              <a:rPr lang="en">
                <a:solidFill>
                  <a:schemeClr val="dk1"/>
                </a:solidFill>
              </a:rPr>
              <a:t> Correct the record here: The slope is </a:t>
            </a:r>
            <a:r>
              <a:rPr b="1" lang="en">
                <a:solidFill>
                  <a:schemeClr val="dk1"/>
                </a:solidFill>
              </a:rPr>
              <a:t>positive</a:t>
            </a:r>
            <a:r>
              <a:rPr lang="en">
                <a:solidFill>
                  <a:schemeClr val="dk1"/>
                </a:solidFill>
              </a:rPr>
              <a:t>, not zero. Business abstracts were already evolving toward higher complexity before ChatGPT.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Post-LLM Gradient (Red Solid Line):</a:t>
            </a:r>
            <a:r>
              <a:rPr lang="en">
                <a:solidFill>
                  <a:schemeClr val="dk1"/>
                </a:solidFill>
              </a:rPr>
              <a:t> The red line is significantly steeper. The structural break didn't </a:t>
            </a:r>
            <a:r>
              <a:rPr i="1" lang="en">
                <a:solidFill>
                  <a:schemeClr val="dk1"/>
                </a:solidFill>
              </a:rPr>
              <a:t>start</a:t>
            </a:r>
            <a:r>
              <a:rPr lang="en">
                <a:solidFill>
                  <a:schemeClr val="dk1"/>
                </a:solidFill>
              </a:rPr>
              <a:t> the trend, it </a:t>
            </a:r>
            <a:r>
              <a:rPr b="1" lang="en">
                <a:solidFill>
                  <a:schemeClr val="dk1"/>
                </a:solidFill>
              </a:rPr>
              <a:t>accelerated</a:t>
            </a:r>
            <a:r>
              <a:rPr lang="en">
                <a:solidFill>
                  <a:schemeClr val="dk1"/>
                </a:solidFill>
              </a:rPr>
              <a:t> it.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Key Comparison:</a:t>
            </a:r>
            <a:r>
              <a:rPr lang="en">
                <a:solidFill>
                  <a:schemeClr val="dk1"/>
                </a:solidFill>
              </a:rPr>
              <a:t> The gap between the blue and red lines represents the "added complexity" correlating with the LLM era.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956de75c3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a956de75c3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Acceleration Analysis (Metric Divergence)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Metric Disagreement:</a:t>
            </a:r>
            <a:r>
              <a:rPr lang="en">
                <a:solidFill>
                  <a:schemeClr val="dk1"/>
                </a:solidFill>
              </a:rPr>
              <a:t> Be transparent about the noise. While Flesch-Kincaid and Dale-Chall show positive acceleration (confirming the trend steepened), </a:t>
            </a:r>
            <a:r>
              <a:rPr b="1" lang="en">
                <a:solidFill>
                  <a:schemeClr val="dk1"/>
                </a:solidFill>
              </a:rPr>
              <a:t>ARI shows a sharp negative outlier in 2023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Interpreting the Divergence:</a:t>
            </a:r>
            <a:r>
              <a:rPr lang="en">
                <a:solidFill>
                  <a:schemeClr val="dk1"/>
                </a:solidFill>
              </a:rPr>
              <a:t> This suggests that while vocabulary became more difficult (Dale-Chall) and sentences longer (FKGL), the specific character-density measured by ARI behaved erratically.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Takeaway:</a:t>
            </a:r>
            <a:r>
              <a:rPr lang="en">
                <a:solidFill>
                  <a:schemeClr val="dk1"/>
                </a:solidFill>
              </a:rPr>
              <a:t> The Business dataset is the "messiest" of the three. The signal is present, but it is complicated by high volatility and metric disagreement at the inflection point.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a956de75c3_0_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a956de75c3_0_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a956de75c3_0_1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a956de75c3_0_1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a9398a4c37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a9398a4c37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a956de75c3_0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a956de75c3_0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reepik.com/" TargetMode="Externa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reepik.com/" TargetMode="Externa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7" name="Google Shape;27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49" name="Google Shape;49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3" name="Google Shape;53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71" name="Google Shape;71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73" name="Google Shape;73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95" name="Google Shape;95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98" name="Google Shape;98;p15"/>
          <p:cNvSpPr txBox="1"/>
          <p:nvPr>
            <p:ph hasCustomPrompt="1"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hasCustomPrompt="1"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hasCustomPrompt="1"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hasCustomPrompt="1"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6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113" name="Google Shape;113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hasCustomPrompt="1"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7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hasCustomPrompt="1"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hasCustomPrompt="1"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22" name="Google Shape;122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26" name="Google Shape;126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" name="Google Shape;128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1" name="Google Shape;141;p20"/>
          <p:cNvSpPr/>
          <p:nvPr>
            <p:ph idx="2" type="pic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5" name="Google Shape;145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22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2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62" name="Google Shape;162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7" name="Google Shape;167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68" name="Google Shape;168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69" name="Google Shape;169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72" name="Google Shape;172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181" name="Google Shape;181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9" name="Google Shape;189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7" name="Google Shape;207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09" name="Google Shape;209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9" name="Google Shape;219;p29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1" name="Google Shape;221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0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0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5" name="Google Shape;235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37" name="Google Shape;237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1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9" name="Google Shape;249;p31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1" name="Google Shape;251;p31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3" name="Google Shape;253;p31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31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55" name="Google Shape;255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59" name="Google Shape;259;p32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260" name="Google Shape;260;p32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261" name="Google Shape;261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62" name="Google Shape;26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" name="Google Shape;26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4" name="Google Shape;264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280" name="Google Shape;280;p36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81" name="Google Shape;281;p36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36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283" name="Google Shape;283;p36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4" name="Google Shape;284;p36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5" name="Google Shape;285;p36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288" name="Google Shape;288;p37"/>
          <p:cNvSpPr txBox="1"/>
          <p:nvPr>
            <p:ph hasCustomPrompt="1"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289" name="Google Shape;289;p37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90" name="Google Shape;290;p37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1" name="Google Shape;291;p37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94" name="Google Shape;294;p38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38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" name="Google Shape;296;p38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97" name="Google Shape;297;p38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38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03" name="Google Shape;303;p39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39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05" name="Google Shape;305;p39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6" name="Google Shape;306;p39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09" name="Google Shape;309;p40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" name="Google Shape;310;p40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311" name="Google Shape;311;p40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2" name="Google Shape;312;p40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1"/>
          <p:cNvSpPr txBox="1"/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1" type="subTitle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41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41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8" name="Google Shape;318;p41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319" name="Google Shape;319;p41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41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2"/>
          <p:cNvSpPr txBox="1"/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23" name="Google Shape;323;p42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4" name="Google Shape;324;p42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325" name="Google Shape;325;p42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6" name="Google Shape;326;p42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7" name="Google Shape;327;p4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 txBox="1"/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30" name="Google Shape;330;p43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331" name="Google Shape;331;p43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2" name="Google Shape;332;p43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333" name="Google Shape;333;p43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4" name="Google Shape;334;p43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4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5"/>
          <p:cNvSpPr txBox="1"/>
          <p:nvPr>
            <p:ph hasCustomPrompt="1" type="title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340" name="Google Shape;340;p45"/>
          <p:cNvSpPr txBox="1"/>
          <p:nvPr>
            <p:ph idx="1" type="subTitle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341" name="Google Shape;341;p45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2" name="Google Shape;342;p45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343" name="Google Shape;343;p45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45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5" name="Google Shape;345;p45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49" name="Google Shape;349;p47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47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1" name="Google Shape;351;p47"/>
          <p:cNvSpPr txBox="1"/>
          <p:nvPr>
            <p:ph hasCustomPrompt="1"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352" name="Google Shape;352;p47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7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4" name="Google Shape;354;p47"/>
          <p:cNvSpPr txBox="1"/>
          <p:nvPr>
            <p:ph hasCustomPrompt="1"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355" name="Google Shape;355;p47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7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7" name="Google Shape;357;p47"/>
          <p:cNvSpPr txBox="1"/>
          <p:nvPr>
            <p:ph hasCustomPrompt="1"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358" name="Google Shape;358;p47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7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60" name="Google Shape;360;p47"/>
          <p:cNvSpPr txBox="1"/>
          <p:nvPr>
            <p:ph hasCustomPrompt="1"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361" name="Google Shape;361;p47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8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4" name="Google Shape;364;p48"/>
          <p:cNvSpPr txBox="1"/>
          <p:nvPr>
            <p:ph idx="1" type="subTitle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365" name="Google Shape;365;p48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9"/>
          <p:cNvSpPr txBox="1"/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368" name="Google Shape;368;p49"/>
          <p:cNvSpPr txBox="1"/>
          <p:nvPr>
            <p:ph hasCustomPrompt="1"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369" name="Google Shape;369;p49"/>
          <p:cNvSpPr txBox="1"/>
          <p:nvPr>
            <p:ph idx="1" type="subTitle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370" name="Google Shape;370;p49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49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74" name="Google Shape;374;p50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50"/>
          <p:cNvSpPr txBox="1"/>
          <p:nvPr>
            <p:ph hasCustomPrompt="1"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6" name="Google Shape;376;p50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77" name="Google Shape;377;p50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50"/>
          <p:cNvSpPr txBox="1"/>
          <p:nvPr>
            <p:ph hasCustomPrompt="1"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79" name="Google Shape;379;p50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80" name="Google Shape;380;p50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0"/>
          <p:cNvSpPr txBox="1"/>
          <p:nvPr>
            <p:ph hasCustomPrompt="1"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2" name="Google Shape;382;p50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383" name="Google Shape;383;p50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1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1"/>
          <p:cNvSpPr txBox="1"/>
          <p:nvPr>
            <p:ph hasCustomPrompt="1"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7" name="Google Shape;387;p51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51"/>
          <p:cNvSpPr txBox="1"/>
          <p:nvPr>
            <p:ph hasCustomPrompt="1"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89" name="Google Shape;389;p51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51"/>
          <p:cNvSpPr txBox="1"/>
          <p:nvPr>
            <p:ph hasCustomPrompt="1"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391" name="Google Shape;391;p51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392" name="Google Shape;392;p51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3" name="Google Shape;393;p51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396" name="Google Shape;396;p52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397" name="Google Shape;397;p52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8" name="Google Shape;398;p52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401" name="Google Shape;401;p53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54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404" name="Google Shape;404;p54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4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54"/>
          <p:cNvSpPr txBox="1"/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407" name="Google Shape;407;p54"/>
          <p:cNvSpPr txBox="1"/>
          <p:nvPr>
            <p:ph idx="1" type="subTitle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408" name="Google Shape;408;p54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409" name="Google Shape;409;p54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p54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1" name="Google Shape;411;p54"/>
          <p:cNvSpPr/>
          <p:nvPr>
            <p:ph idx="2" type="pic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5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414" name="Google Shape;414;p5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15" name="Google Shape;415;p55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55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417" name="Google Shape;417;p55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8" name="Google Shape;418;p55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6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21" name="Google Shape;421;p56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2" name="Google Shape;422;p56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3" name="Google Shape;423;p56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424" name="Google Shape;424;p56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5" name="Google Shape;425;p56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6" name="Google Shape;426;p56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7"/>
          <p:cNvSpPr txBox="1"/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29" name="Google Shape;429;p57"/>
          <p:cNvSpPr txBox="1"/>
          <p:nvPr>
            <p:ph idx="1" type="subTitle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57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1" name="Google Shape;431;p57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432" name="Google Shape;432;p57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3" name="Google Shape;433;p57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/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36" name="Google Shape;436;p58"/>
          <p:cNvSpPr txBox="1"/>
          <p:nvPr>
            <p:ph idx="1" type="subTitle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37" name="Google Shape;437;p58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438" name="Google Shape;438;p58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439" name="Google Shape;439;p58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58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1" name="Google Shape;441;p58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442" name="Google Shape;442;p58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43" name="Google Shape;443;p58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46" name="Google Shape;446;p59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447" name="Google Shape;447;p59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448" name="Google Shape;448;p59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59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0" name="Google Shape;450;p59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451" name="Google Shape;451;p59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59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55" name="Google Shape;455;p60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60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60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8" name="Google Shape;458;p60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459" name="Google Shape;459;p60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60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63" name="Google Shape;463;p61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61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65" name="Google Shape;465;p61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61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67" name="Google Shape;467;p61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61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71" name="Google Shape;471;p62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62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73" name="Google Shape;473;p62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62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75" name="Google Shape;475;p62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6" name="Google Shape;476;p62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77" name="Google Shape;477;p62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8" name="Google Shape;478;p62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479" name="Google Shape;479;p62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" name="Google Shape;480;p62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63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85" name="Google Shape;485;p63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63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87" name="Google Shape;487;p63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8" name="Google Shape;488;p63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89" name="Google Shape;489;p63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63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91" name="Google Shape;491;p63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2" name="Google Shape;492;p63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95" name="Google Shape;495;p64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6" name="Google Shape;496;p64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97" name="Google Shape;497;p64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8" name="Google Shape;498;p64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499" name="Google Shape;499;p64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64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01" name="Google Shape;501;p64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2" name="Google Shape;502;p64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03" name="Google Shape;503;p64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64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05" name="Google Shape;505;p64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6" name="Google Shape;506;p64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507" name="Google Shape;507;p64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64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511" name="Google Shape;511;p65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65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13" name="Google Shape;513;p65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4" name="Google Shape;514;p65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15" name="Google Shape;515;p65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65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17" name="Google Shape;517;p65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65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19" name="Google Shape;519;p65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65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21" name="Google Shape;521;p65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65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523" name="Google Shape;523;p65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4" name="Google Shape;524;p65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525" name="Google Shape;525;p65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6" name="Google Shape;526;p65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66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529" name="Google Shape;529;p66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530" name="Google Shape;530;p66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531" name="Google Shape;531;p66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532" name="Google Shape;532;p66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66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34" name="Google Shape;534;p66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6" name="Google Shape;536;p67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67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8" name="Google Shape;538;p67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67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68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2" name="Google Shape;542;p68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543" name="Google Shape;543;p68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68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0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277" name="Google Shape;277;p35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69" title="img37-removebg.png"/>
          <p:cNvPicPr preferRelativeResize="0"/>
          <p:nvPr/>
        </p:nvPicPr>
        <p:blipFill rotWithShape="1">
          <a:blip r:embed="rId3">
            <a:alphaModFix amt="51000"/>
          </a:blip>
          <a:srcRect b="0" l="1710" r="0" t="0"/>
          <a:stretch/>
        </p:blipFill>
        <p:spPr>
          <a:xfrm>
            <a:off x="3431975" y="-188325"/>
            <a:ext cx="7146374" cy="51436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69"/>
          <p:cNvSpPr txBox="1"/>
          <p:nvPr>
            <p:ph type="ctrTitle"/>
          </p:nvPr>
        </p:nvSpPr>
        <p:spPr>
          <a:xfrm>
            <a:off x="197100" y="949850"/>
            <a:ext cx="5672100" cy="240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Does</a:t>
            </a:r>
            <a:r>
              <a:rPr lang="en" sz="4700"/>
              <a:t> </a:t>
            </a:r>
            <a:r>
              <a:rPr lang="en" sz="4700">
                <a:solidFill>
                  <a:srgbClr val="325D79"/>
                </a:solidFill>
              </a:rPr>
              <a:t>AI- assisted scientific writing</a:t>
            </a:r>
            <a:endParaRPr sz="4700">
              <a:solidFill>
                <a:srgbClr val="325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accent1"/>
                </a:solidFill>
              </a:rPr>
              <a:t> </a:t>
            </a:r>
            <a:r>
              <a:rPr lang="en" sz="4700"/>
              <a:t>affect readability?</a:t>
            </a:r>
            <a:endParaRPr sz="4700"/>
          </a:p>
        </p:txBody>
      </p:sp>
      <p:sp>
        <p:nvSpPr>
          <p:cNvPr id="551" name="Google Shape;551;p69"/>
          <p:cNvSpPr txBox="1"/>
          <p:nvPr>
            <p:ph idx="1" type="subTitle"/>
          </p:nvPr>
        </p:nvSpPr>
        <p:spPr>
          <a:xfrm>
            <a:off x="59075" y="3889450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Daniel Duhnev, Marcelo Jiménez, and Lydia Krifka-Dobes1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25D79"/>
                </a:solidFill>
              </a:rPr>
              <a:t>Universitat Pompeu Fabra (UPF), Barcelona, Spain</a:t>
            </a:r>
            <a:endParaRPr>
              <a:solidFill>
                <a:srgbClr val="325D7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0"/>
          <p:cNvSpPr/>
          <p:nvPr/>
        </p:nvSpPr>
        <p:spPr>
          <a:xfrm>
            <a:off x="5045480" y="1451000"/>
            <a:ext cx="852900" cy="3692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" name="Google Shape;557;p70"/>
          <p:cNvGrpSpPr/>
          <p:nvPr/>
        </p:nvGrpSpPr>
        <p:grpSpPr>
          <a:xfrm>
            <a:off x="0" y="1451000"/>
            <a:ext cx="4108200" cy="3692400"/>
            <a:chOff x="0" y="1451000"/>
            <a:chExt cx="4108200" cy="3692400"/>
          </a:xfrm>
        </p:grpSpPr>
        <p:sp>
          <p:nvSpPr>
            <p:cNvPr id="558" name="Google Shape;558;p70"/>
            <p:cNvSpPr/>
            <p:nvPr/>
          </p:nvSpPr>
          <p:spPr>
            <a:xfrm>
              <a:off x="1005300" y="1451000"/>
              <a:ext cx="852900" cy="369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59" name="Google Shape;559;p70"/>
            <p:cNvCxnSpPr/>
            <p:nvPr/>
          </p:nvCxnSpPr>
          <p:spPr>
            <a:xfrm>
              <a:off x="0" y="4797575"/>
              <a:ext cx="4108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60" name="Google Shape;560;p7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Table of contents</a:t>
            </a:r>
            <a:endParaRPr sz="3100"/>
          </a:p>
        </p:txBody>
      </p:sp>
      <p:sp>
        <p:nvSpPr>
          <p:cNvPr id="561" name="Google Shape;561;p70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and Research questions</a:t>
            </a:r>
            <a:endParaRPr/>
          </a:p>
        </p:txBody>
      </p:sp>
      <p:sp>
        <p:nvSpPr>
          <p:cNvPr id="562" name="Google Shape;562;p70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problem</a:t>
            </a:r>
            <a:endParaRPr/>
          </a:p>
        </p:txBody>
      </p:sp>
      <p:sp>
        <p:nvSpPr>
          <p:cNvPr id="563" name="Google Shape;563;p70"/>
          <p:cNvSpPr txBox="1"/>
          <p:nvPr>
            <p:ph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4" name="Google Shape;564;p70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Readability trends and gradient analysis</a:t>
            </a:r>
            <a:endParaRPr/>
          </a:p>
        </p:txBody>
      </p:sp>
      <p:sp>
        <p:nvSpPr>
          <p:cNvPr id="565" name="Google Shape;565;p70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566" name="Google Shape;566;p70"/>
          <p:cNvSpPr txBox="1"/>
          <p:nvPr>
            <p:ph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67" name="Google Shape;567;p70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 and </a:t>
            </a:r>
            <a:r>
              <a:rPr lang="en"/>
              <a:t>readability</a:t>
            </a:r>
            <a:r>
              <a:rPr lang="en"/>
              <a:t> metrics</a:t>
            </a:r>
            <a:endParaRPr/>
          </a:p>
        </p:txBody>
      </p:sp>
      <p:sp>
        <p:nvSpPr>
          <p:cNvPr id="568" name="Google Shape;568;p70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569" name="Google Shape;569;p70"/>
          <p:cNvSpPr txBox="1"/>
          <p:nvPr>
            <p:ph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70" name="Google Shape;570;p70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Interpretation and discussion of findings</a:t>
            </a:r>
            <a:endParaRPr/>
          </a:p>
        </p:txBody>
      </p:sp>
      <p:sp>
        <p:nvSpPr>
          <p:cNvPr id="571" name="Google Shape;571;p70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72" name="Google Shape;572;p70"/>
          <p:cNvSpPr txBox="1"/>
          <p:nvPr>
            <p:ph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71"/>
          <p:cNvSpPr txBox="1"/>
          <p:nvPr>
            <p:ph type="title"/>
          </p:nvPr>
        </p:nvSpPr>
        <p:spPr>
          <a:xfrm>
            <a:off x="391875" y="710100"/>
            <a:ext cx="78954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research problem </a:t>
            </a:r>
            <a:endParaRPr/>
          </a:p>
        </p:txBody>
      </p:sp>
      <p:sp>
        <p:nvSpPr>
          <p:cNvPr id="578" name="Google Shape;578;p71"/>
          <p:cNvSpPr txBox="1"/>
          <p:nvPr>
            <p:ph idx="1" type="subTitle"/>
          </p:nvPr>
        </p:nvSpPr>
        <p:spPr>
          <a:xfrm>
            <a:off x="391875" y="1648800"/>
            <a:ext cx="7621800" cy="27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(1) </a:t>
            </a:r>
            <a:r>
              <a:rPr b="1" lang="en" sz="1850"/>
              <a:t>ChatGPT released November 2022 </a:t>
            </a:r>
            <a:br>
              <a:rPr b="1" lang="en" sz="1850"/>
            </a:br>
            <a:r>
              <a:rPr b="1" lang="en" sz="1850"/>
              <a:t>→ </a:t>
            </a:r>
            <a:r>
              <a:rPr lang="en" sz="1850"/>
              <a:t>Researchers started using it for writing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(2) Question: </a:t>
            </a:r>
            <a:br>
              <a:rPr b="1" lang="en" sz="1850"/>
            </a:br>
            <a:r>
              <a:rPr lang="en" sz="1850"/>
              <a:t>Did scientific texts become 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harder to read?</a:t>
            </a:r>
            <a:endParaRPr sz="1850"/>
          </a:p>
        </p:txBody>
      </p:sp>
      <p:pic>
        <p:nvPicPr>
          <p:cNvPr id="579" name="Google Shape;579;p71" title="fd6e2160-51d4-434b-9ee9-fc5ea3091d4c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6300" y="2428050"/>
            <a:ext cx="3900976" cy="265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72"/>
          <p:cNvSpPr txBox="1"/>
          <p:nvPr>
            <p:ph type="title"/>
          </p:nvPr>
        </p:nvSpPr>
        <p:spPr>
          <a:xfrm>
            <a:off x="391875" y="710100"/>
            <a:ext cx="78954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hypothesis</a:t>
            </a:r>
            <a:endParaRPr/>
          </a:p>
        </p:txBody>
      </p:sp>
      <p:sp>
        <p:nvSpPr>
          <p:cNvPr id="585" name="Google Shape;585;p72"/>
          <p:cNvSpPr txBox="1"/>
          <p:nvPr>
            <p:ph idx="1" type="subTitle"/>
          </p:nvPr>
        </p:nvSpPr>
        <p:spPr>
          <a:xfrm>
            <a:off x="391875" y="1648800"/>
            <a:ext cx="7621800" cy="27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(1) Readability drops sharply after 2022 </a:t>
            </a:r>
            <a:br>
              <a:rPr b="1" lang="en" sz="1850"/>
            </a:br>
            <a:r>
              <a:rPr lang="en" sz="1850"/>
              <a:t>(Previous studies found this in preprints)</a:t>
            </a:r>
            <a:endParaRPr sz="1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(2) Computer Science papers shows this first </a:t>
            </a:r>
            <a:br>
              <a:rPr b="1" lang="en" sz="1850"/>
            </a:br>
            <a:r>
              <a:rPr lang="en" sz="1850"/>
              <a:t>(They adopt new technology earliest)</a:t>
            </a:r>
            <a:endParaRPr sz="1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0" name="Google Shape;590;p73"/>
          <p:cNvGrpSpPr/>
          <p:nvPr/>
        </p:nvGrpSpPr>
        <p:grpSpPr>
          <a:xfrm>
            <a:off x="4652464" y="1244067"/>
            <a:ext cx="4027018" cy="3034951"/>
            <a:chOff x="4713200" y="1244125"/>
            <a:chExt cx="3523200" cy="2655250"/>
          </a:xfrm>
        </p:grpSpPr>
        <p:sp>
          <p:nvSpPr>
            <p:cNvPr id="591" name="Google Shape;591;p73"/>
            <p:cNvSpPr/>
            <p:nvPr/>
          </p:nvSpPr>
          <p:spPr>
            <a:xfrm>
              <a:off x="4713200" y="1244125"/>
              <a:ext cx="3523200" cy="2307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04500" lIns="104500" spcFirstLastPara="1" rIns="104500" wrap="square" tIns="104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73"/>
            <p:cNvSpPr/>
            <p:nvPr/>
          </p:nvSpPr>
          <p:spPr>
            <a:xfrm>
              <a:off x="5243750" y="3724475"/>
              <a:ext cx="2462100" cy="1749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104500" lIns="104500" spcFirstLastPara="1" rIns="104500" wrap="square" tIns="104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93" name="Google Shape;593;p73"/>
            <p:cNvCxnSpPr/>
            <p:nvPr/>
          </p:nvCxnSpPr>
          <p:spPr>
            <a:xfrm>
              <a:off x="6157175" y="3551025"/>
              <a:ext cx="0" cy="173400"/>
            </a:xfrm>
            <a:prstGeom prst="straightConnector1">
              <a:avLst/>
            </a:prstGeom>
            <a:noFill/>
            <a:ln cap="flat" cmpd="sng" w="109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4" name="Google Shape;594;p73"/>
            <p:cNvCxnSpPr/>
            <p:nvPr/>
          </p:nvCxnSpPr>
          <p:spPr>
            <a:xfrm>
              <a:off x="6792425" y="3551025"/>
              <a:ext cx="0" cy="173400"/>
            </a:xfrm>
            <a:prstGeom prst="straightConnector1">
              <a:avLst/>
            </a:prstGeom>
            <a:noFill/>
            <a:ln cap="flat" cmpd="sng" w="109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5" name="Google Shape;595;p73"/>
            <p:cNvCxnSpPr/>
            <p:nvPr/>
          </p:nvCxnSpPr>
          <p:spPr>
            <a:xfrm>
              <a:off x="6205250" y="3382725"/>
              <a:ext cx="539100" cy="0"/>
            </a:xfrm>
            <a:prstGeom prst="straightConnector1">
              <a:avLst/>
            </a:prstGeom>
            <a:noFill/>
            <a:ln cap="flat" cmpd="sng" w="109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96" name="Google Shape;596;p73"/>
          <p:cNvSpPr txBox="1"/>
          <p:nvPr>
            <p:ph type="title"/>
          </p:nvPr>
        </p:nvSpPr>
        <p:spPr>
          <a:xfrm>
            <a:off x="1059225" y="1707450"/>
            <a:ext cx="3296400" cy="64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73"/>
          <p:cNvSpPr txBox="1"/>
          <p:nvPr>
            <p:ph idx="1" type="subTitle"/>
          </p:nvPr>
        </p:nvSpPr>
        <p:spPr>
          <a:xfrm>
            <a:off x="1059225" y="2408850"/>
            <a:ext cx="34152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8" name="Google Shape;598;p73" title="Screenshot 2025-11-24 at 10.16.23.png"/>
          <p:cNvPicPr preferRelativeResize="0"/>
          <p:nvPr/>
        </p:nvPicPr>
        <p:blipFill rotWithShape="1">
          <a:blip r:embed="rId3">
            <a:alphaModFix/>
          </a:blip>
          <a:srcRect b="16362" l="0" r="16722" t="11616"/>
          <a:stretch/>
        </p:blipFill>
        <p:spPr>
          <a:xfrm>
            <a:off x="4740012" y="1394475"/>
            <a:ext cx="3851924" cy="216669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9" name="Google Shape;599;p73" title="screen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0298" y="357935"/>
            <a:ext cx="2414275" cy="44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74"/>
          <p:cNvGrpSpPr/>
          <p:nvPr/>
        </p:nvGrpSpPr>
        <p:grpSpPr>
          <a:xfrm>
            <a:off x="0" y="-50"/>
            <a:ext cx="9144000" cy="5143550"/>
            <a:chOff x="0" y="-50"/>
            <a:chExt cx="9144000" cy="5143550"/>
          </a:xfrm>
        </p:grpSpPr>
        <p:sp>
          <p:nvSpPr>
            <p:cNvPr id="605" name="Google Shape;605;p74"/>
            <p:cNvSpPr/>
            <p:nvPr/>
          </p:nvSpPr>
          <p:spPr>
            <a:xfrm>
              <a:off x="0" y="1642453"/>
              <a:ext cx="9144000" cy="989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6" name="Google Shape;606;p74"/>
            <p:cNvGrpSpPr/>
            <p:nvPr/>
          </p:nvGrpSpPr>
          <p:grpSpPr>
            <a:xfrm>
              <a:off x="283800" y="-50"/>
              <a:ext cx="8718300" cy="5143550"/>
              <a:chOff x="283800" y="-50"/>
              <a:chExt cx="8718300" cy="5143550"/>
            </a:xfrm>
          </p:grpSpPr>
          <p:cxnSp>
            <p:nvCxnSpPr>
              <p:cNvPr id="607" name="Google Shape;607;p74"/>
              <p:cNvCxnSpPr/>
              <p:nvPr/>
            </p:nvCxnSpPr>
            <p:spPr>
              <a:xfrm rot="10800000">
                <a:off x="9002100" y="1642500"/>
                <a:ext cx="0" cy="3501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08" name="Google Shape;608;p74"/>
              <p:cNvCxnSpPr/>
              <p:nvPr/>
            </p:nvCxnSpPr>
            <p:spPr>
              <a:xfrm rot="10800000">
                <a:off x="283800" y="-50"/>
                <a:ext cx="0" cy="2631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609" name="Google Shape;609;p7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Domains analysed</a:t>
            </a:r>
            <a:endParaRPr/>
          </a:p>
        </p:txBody>
      </p:sp>
      <p:sp>
        <p:nvSpPr>
          <p:cNvPr id="610" name="Google Shape;610;p74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74"/>
          <p:cNvSpPr txBox="1"/>
          <p:nvPr>
            <p:ph idx="2" type="subTitle"/>
          </p:nvPr>
        </p:nvSpPr>
        <p:spPr>
          <a:xfrm>
            <a:off x="582450" y="2785375"/>
            <a:ext cx="27240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</a:t>
            </a:r>
            <a:r>
              <a:rPr lang="en"/>
              <a:t> science</a:t>
            </a:r>
            <a:endParaRPr/>
          </a:p>
        </p:txBody>
      </p:sp>
      <p:sp>
        <p:nvSpPr>
          <p:cNvPr id="612" name="Google Shape;612;p74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74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endParaRPr/>
          </a:p>
        </p:txBody>
      </p:sp>
      <p:sp>
        <p:nvSpPr>
          <p:cNvPr id="614" name="Google Shape;614;p74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74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Medicine</a:t>
            </a:r>
            <a:endParaRPr/>
          </a:p>
        </p:txBody>
      </p:sp>
      <p:grpSp>
        <p:nvGrpSpPr>
          <p:cNvPr id="616" name="Google Shape;616;p74"/>
          <p:cNvGrpSpPr/>
          <p:nvPr/>
        </p:nvGrpSpPr>
        <p:grpSpPr>
          <a:xfrm>
            <a:off x="4386224" y="1862734"/>
            <a:ext cx="371553" cy="548538"/>
            <a:chOff x="1993050" y="238125"/>
            <a:chExt cx="3614325" cy="5219200"/>
          </a:xfrm>
        </p:grpSpPr>
        <p:sp>
          <p:nvSpPr>
            <p:cNvPr id="617" name="Google Shape;617;p74"/>
            <p:cNvSpPr/>
            <p:nvPr/>
          </p:nvSpPr>
          <p:spPr>
            <a:xfrm>
              <a:off x="2219775" y="238125"/>
              <a:ext cx="3387600" cy="5219200"/>
            </a:xfrm>
            <a:custGeom>
              <a:rect b="b" l="l" r="r" t="t"/>
              <a:pathLst>
                <a:path extrusionOk="0" h="208768" w="135504">
                  <a:moveTo>
                    <a:pt x="65142" y="6393"/>
                  </a:moveTo>
                  <a:cubicBezTo>
                    <a:pt x="66251" y="6393"/>
                    <a:pt x="67165" y="7307"/>
                    <a:pt x="67165" y="8416"/>
                  </a:cubicBezTo>
                  <a:lnTo>
                    <a:pt x="67165" y="10145"/>
                  </a:lnTo>
                  <a:cubicBezTo>
                    <a:pt x="67165" y="11254"/>
                    <a:pt x="66251" y="12167"/>
                    <a:pt x="65142" y="12167"/>
                  </a:cubicBezTo>
                  <a:lnTo>
                    <a:pt x="41623" y="12167"/>
                  </a:lnTo>
                  <a:cubicBezTo>
                    <a:pt x="40514" y="12167"/>
                    <a:pt x="39601" y="11254"/>
                    <a:pt x="39601" y="10145"/>
                  </a:cubicBezTo>
                  <a:lnTo>
                    <a:pt x="39601" y="8416"/>
                  </a:lnTo>
                  <a:cubicBezTo>
                    <a:pt x="39601" y="7307"/>
                    <a:pt x="40514" y="6393"/>
                    <a:pt x="41623" y="6393"/>
                  </a:cubicBezTo>
                  <a:close/>
                  <a:moveTo>
                    <a:pt x="57542" y="18561"/>
                  </a:moveTo>
                  <a:lnTo>
                    <a:pt x="57542" y="22508"/>
                  </a:lnTo>
                  <a:lnTo>
                    <a:pt x="49224" y="22508"/>
                  </a:lnTo>
                  <a:lnTo>
                    <a:pt x="49224" y="18561"/>
                  </a:lnTo>
                  <a:close/>
                  <a:moveTo>
                    <a:pt x="72677" y="88171"/>
                  </a:moveTo>
                  <a:lnTo>
                    <a:pt x="72677" y="94402"/>
                  </a:lnTo>
                  <a:lnTo>
                    <a:pt x="34088" y="94402"/>
                  </a:lnTo>
                  <a:lnTo>
                    <a:pt x="34088" y="88171"/>
                  </a:lnTo>
                  <a:close/>
                  <a:moveTo>
                    <a:pt x="39992" y="100795"/>
                  </a:moveTo>
                  <a:lnTo>
                    <a:pt x="39992" y="106112"/>
                  </a:lnTo>
                  <a:lnTo>
                    <a:pt x="36665" y="106112"/>
                  </a:lnTo>
                  <a:lnTo>
                    <a:pt x="36665" y="100795"/>
                  </a:lnTo>
                  <a:close/>
                  <a:moveTo>
                    <a:pt x="69774" y="100795"/>
                  </a:moveTo>
                  <a:lnTo>
                    <a:pt x="69774" y="106112"/>
                  </a:lnTo>
                  <a:lnTo>
                    <a:pt x="57835" y="106112"/>
                  </a:lnTo>
                  <a:lnTo>
                    <a:pt x="57835" y="100795"/>
                  </a:lnTo>
                  <a:close/>
                  <a:moveTo>
                    <a:pt x="81615" y="126467"/>
                  </a:moveTo>
                  <a:lnTo>
                    <a:pt x="81615" y="136253"/>
                  </a:lnTo>
                  <a:lnTo>
                    <a:pt x="23878" y="136253"/>
                  </a:lnTo>
                  <a:lnTo>
                    <a:pt x="23878" y="126467"/>
                  </a:lnTo>
                  <a:close/>
                  <a:moveTo>
                    <a:pt x="80115" y="155629"/>
                  </a:moveTo>
                  <a:cubicBezTo>
                    <a:pt x="87389" y="155629"/>
                    <a:pt x="93326" y="161534"/>
                    <a:pt x="93326" y="168808"/>
                  </a:cubicBezTo>
                  <a:lnTo>
                    <a:pt x="93326" y="172787"/>
                  </a:lnTo>
                  <a:lnTo>
                    <a:pt x="83311" y="172787"/>
                  </a:lnTo>
                  <a:lnTo>
                    <a:pt x="83311" y="165415"/>
                  </a:lnTo>
                  <a:cubicBezTo>
                    <a:pt x="83311" y="163654"/>
                    <a:pt x="81876" y="162219"/>
                    <a:pt x="80115" y="162219"/>
                  </a:cubicBezTo>
                  <a:cubicBezTo>
                    <a:pt x="78353" y="162219"/>
                    <a:pt x="76918" y="163654"/>
                    <a:pt x="76918" y="165415"/>
                  </a:cubicBezTo>
                  <a:lnTo>
                    <a:pt x="76918" y="172787"/>
                  </a:lnTo>
                  <a:lnTo>
                    <a:pt x="66936" y="172787"/>
                  </a:lnTo>
                  <a:lnTo>
                    <a:pt x="66936" y="168808"/>
                  </a:lnTo>
                  <a:cubicBezTo>
                    <a:pt x="66936" y="161534"/>
                    <a:pt x="72840" y="155629"/>
                    <a:pt x="80115" y="155629"/>
                  </a:cubicBezTo>
                  <a:close/>
                  <a:moveTo>
                    <a:pt x="41623" y="0"/>
                  </a:moveTo>
                  <a:cubicBezTo>
                    <a:pt x="36991" y="0"/>
                    <a:pt x="33207" y="3784"/>
                    <a:pt x="33207" y="8416"/>
                  </a:cubicBezTo>
                  <a:lnTo>
                    <a:pt x="33207" y="10145"/>
                  </a:lnTo>
                  <a:cubicBezTo>
                    <a:pt x="33207" y="14777"/>
                    <a:pt x="36991" y="18561"/>
                    <a:pt x="41623" y="18561"/>
                  </a:cubicBezTo>
                  <a:lnTo>
                    <a:pt x="42830" y="18561"/>
                  </a:lnTo>
                  <a:lnTo>
                    <a:pt x="42830" y="22508"/>
                  </a:lnTo>
                  <a:lnTo>
                    <a:pt x="36404" y="22508"/>
                  </a:lnTo>
                  <a:cubicBezTo>
                    <a:pt x="34643" y="22508"/>
                    <a:pt x="33207" y="23943"/>
                    <a:pt x="33207" y="25704"/>
                  </a:cubicBezTo>
                  <a:lnTo>
                    <a:pt x="33207" y="81811"/>
                  </a:lnTo>
                  <a:lnTo>
                    <a:pt x="30891" y="81811"/>
                  </a:lnTo>
                  <a:cubicBezTo>
                    <a:pt x="29130" y="81811"/>
                    <a:pt x="27695" y="83213"/>
                    <a:pt x="27695" y="85007"/>
                  </a:cubicBezTo>
                  <a:lnTo>
                    <a:pt x="27695" y="97599"/>
                  </a:lnTo>
                  <a:cubicBezTo>
                    <a:pt x="27695" y="99132"/>
                    <a:pt x="28804" y="100437"/>
                    <a:pt x="30272" y="100730"/>
                  </a:cubicBezTo>
                  <a:lnTo>
                    <a:pt x="30272" y="109309"/>
                  </a:lnTo>
                  <a:cubicBezTo>
                    <a:pt x="30272" y="111071"/>
                    <a:pt x="31707" y="112506"/>
                    <a:pt x="33468" y="112506"/>
                  </a:cubicBezTo>
                  <a:lnTo>
                    <a:pt x="43189" y="112506"/>
                  </a:lnTo>
                  <a:cubicBezTo>
                    <a:pt x="44950" y="112506"/>
                    <a:pt x="46386" y="111071"/>
                    <a:pt x="46386" y="109309"/>
                  </a:cubicBezTo>
                  <a:lnTo>
                    <a:pt x="46386" y="100795"/>
                  </a:lnTo>
                  <a:lnTo>
                    <a:pt x="51442" y="100795"/>
                  </a:lnTo>
                  <a:lnTo>
                    <a:pt x="51442" y="109309"/>
                  </a:lnTo>
                  <a:cubicBezTo>
                    <a:pt x="51442" y="111071"/>
                    <a:pt x="52877" y="112506"/>
                    <a:pt x="54639" y="112506"/>
                  </a:cubicBezTo>
                  <a:lnTo>
                    <a:pt x="72971" y="112506"/>
                  </a:lnTo>
                  <a:cubicBezTo>
                    <a:pt x="74732" y="112506"/>
                    <a:pt x="76168" y="111071"/>
                    <a:pt x="76168" y="109309"/>
                  </a:cubicBezTo>
                  <a:lnTo>
                    <a:pt x="76168" y="100763"/>
                  </a:lnTo>
                  <a:cubicBezTo>
                    <a:pt x="77799" y="100632"/>
                    <a:pt x="79071" y="99262"/>
                    <a:pt x="79071" y="97599"/>
                  </a:cubicBezTo>
                  <a:lnTo>
                    <a:pt x="79071" y="85007"/>
                  </a:lnTo>
                  <a:cubicBezTo>
                    <a:pt x="79071" y="83213"/>
                    <a:pt x="77636" y="81811"/>
                    <a:pt x="75874" y="81811"/>
                  </a:cubicBezTo>
                  <a:lnTo>
                    <a:pt x="73558" y="81811"/>
                  </a:lnTo>
                  <a:lnTo>
                    <a:pt x="73558" y="77994"/>
                  </a:lnTo>
                  <a:cubicBezTo>
                    <a:pt x="87226" y="79592"/>
                    <a:pt x="97860" y="91238"/>
                    <a:pt x="97860" y="105330"/>
                  </a:cubicBezTo>
                  <a:cubicBezTo>
                    <a:pt x="97860" y="113582"/>
                    <a:pt x="94206" y="121248"/>
                    <a:pt x="88009" y="126402"/>
                  </a:cubicBezTo>
                  <a:lnTo>
                    <a:pt x="88009" y="123270"/>
                  </a:lnTo>
                  <a:cubicBezTo>
                    <a:pt x="88009" y="121509"/>
                    <a:pt x="86573" y="120074"/>
                    <a:pt x="84812" y="120074"/>
                  </a:cubicBezTo>
                  <a:lnTo>
                    <a:pt x="20681" y="120074"/>
                  </a:lnTo>
                  <a:cubicBezTo>
                    <a:pt x="18920" y="120074"/>
                    <a:pt x="17485" y="121509"/>
                    <a:pt x="17485" y="123270"/>
                  </a:cubicBezTo>
                  <a:lnTo>
                    <a:pt x="17485" y="136253"/>
                  </a:lnTo>
                  <a:lnTo>
                    <a:pt x="7307" y="136253"/>
                  </a:lnTo>
                  <a:cubicBezTo>
                    <a:pt x="5546" y="136253"/>
                    <a:pt x="4143" y="137656"/>
                    <a:pt x="4143" y="139450"/>
                  </a:cubicBezTo>
                  <a:lnTo>
                    <a:pt x="4143" y="152433"/>
                  </a:lnTo>
                  <a:cubicBezTo>
                    <a:pt x="4143" y="154194"/>
                    <a:pt x="5546" y="155629"/>
                    <a:pt x="7307" y="155629"/>
                  </a:cubicBezTo>
                  <a:lnTo>
                    <a:pt x="40873" y="155629"/>
                  </a:lnTo>
                  <a:cubicBezTo>
                    <a:pt x="42667" y="155629"/>
                    <a:pt x="44070" y="154194"/>
                    <a:pt x="44070" y="152433"/>
                  </a:cubicBezTo>
                  <a:cubicBezTo>
                    <a:pt x="44070" y="150671"/>
                    <a:pt x="42667" y="149236"/>
                    <a:pt x="40873" y="149236"/>
                  </a:cubicBezTo>
                  <a:lnTo>
                    <a:pt x="10504" y="149236"/>
                  </a:lnTo>
                  <a:lnTo>
                    <a:pt x="10504" y="142647"/>
                  </a:lnTo>
                  <a:lnTo>
                    <a:pt x="81615" y="142647"/>
                  </a:lnTo>
                  <a:lnTo>
                    <a:pt x="81615" y="149236"/>
                  </a:lnTo>
                  <a:lnTo>
                    <a:pt x="54019" y="149236"/>
                  </a:lnTo>
                  <a:cubicBezTo>
                    <a:pt x="52257" y="149236"/>
                    <a:pt x="50855" y="150671"/>
                    <a:pt x="50855" y="152433"/>
                  </a:cubicBezTo>
                  <a:cubicBezTo>
                    <a:pt x="50855" y="154194"/>
                    <a:pt x="52257" y="155629"/>
                    <a:pt x="54019" y="155629"/>
                  </a:cubicBezTo>
                  <a:lnTo>
                    <a:pt x="65664" y="155629"/>
                  </a:lnTo>
                  <a:cubicBezTo>
                    <a:pt x="62467" y="159120"/>
                    <a:pt x="60543" y="163752"/>
                    <a:pt x="60543" y="168808"/>
                  </a:cubicBezTo>
                  <a:lnTo>
                    <a:pt x="60543" y="172787"/>
                  </a:lnTo>
                  <a:lnTo>
                    <a:pt x="52877" y="172787"/>
                  </a:lnTo>
                  <a:cubicBezTo>
                    <a:pt x="51116" y="172787"/>
                    <a:pt x="49680" y="174223"/>
                    <a:pt x="49680" y="175984"/>
                  </a:cubicBezTo>
                  <a:cubicBezTo>
                    <a:pt x="49680" y="177746"/>
                    <a:pt x="51116" y="179181"/>
                    <a:pt x="52877" y="179181"/>
                  </a:cubicBezTo>
                  <a:lnTo>
                    <a:pt x="104155" y="179181"/>
                  </a:lnTo>
                  <a:cubicBezTo>
                    <a:pt x="117301" y="179181"/>
                    <a:pt x="128131" y="189424"/>
                    <a:pt x="129044" y="202374"/>
                  </a:cubicBezTo>
                  <a:lnTo>
                    <a:pt x="6459" y="202374"/>
                  </a:lnTo>
                  <a:cubicBezTo>
                    <a:pt x="7372" y="189424"/>
                    <a:pt x="18202" y="179181"/>
                    <a:pt x="31381" y="179181"/>
                  </a:cubicBezTo>
                  <a:lnTo>
                    <a:pt x="39275" y="179181"/>
                  </a:lnTo>
                  <a:cubicBezTo>
                    <a:pt x="41036" y="179181"/>
                    <a:pt x="42439" y="177746"/>
                    <a:pt x="42439" y="175984"/>
                  </a:cubicBezTo>
                  <a:cubicBezTo>
                    <a:pt x="42439" y="174223"/>
                    <a:pt x="41036" y="172787"/>
                    <a:pt x="39275" y="172787"/>
                  </a:cubicBezTo>
                  <a:lnTo>
                    <a:pt x="31381" y="172787"/>
                  </a:lnTo>
                  <a:cubicBezTo>
                    <a:pt x="14059" y="172787"/>
                    <a:pt x="0" y="186879"/>
                    <a:pt x="0" y="204168"/>
                  </a:cubicBezTo>
                  <a:lnTo>
                    <a:pt x="0" y="205570"/>
                  </a:lnTo>
                  <a:cubicBezTo>
                    <a:pt x="0" y="207332"/>
                    <a:pt x="1436" y="208767"/>
                    <a:pt x="3197" y="208767"/>
                  </a:cubicBezTo>
                  <a:lnTo>
                    <a:pt x="132306" y="208767"/>
                  </a:lnTo>
                  <a:cubicBezTo>
                    <a:pt x="134068" y="208767"/>
                    <a:pt x="135503" y="207332"/>
                    <a:pt x="135503" y="205570"/>
                  </a:cubicBezTo>
                  <a:lnTo>
                    <a:pt x="135503" y="204168"/>
                  </a:lnTo>
                  <a:cubicBezTo>
                    <a:pt x="135503" y="186879"/>
                    <a:pt x="121444" y="172787"/>
                    <a:pt x="104155" y="172787"/>
                  </a:cubicBezTo>
                  <a:lnTo>
                    <a:pt x="99687" y="172787"/>
                  </a:lnTo>
                  <a:lnTo>
                    <a:pt x="99687" y="168808"/>
                  </a:lnTo>
                  <a:cubicBezTo>
                    <a:pt x="99687" y="162349"/>
                    <a:pt x="96555" y="156608"/>
                    <a:pt x="91695" y="153020"/>
                  </a:cubicBezTo>
                  <a:cubicBezTo>
                    <a:pt x="99719" y="149399"/>
                    <a:pt x="106863" y="143723"/>
                    <a:pt x="112213" y="136645"/>
                  </a:cubicBezTo>
                  <a:cubicBezTo>
                    <a:pt x="119030" y="127544"/>
                    <a:pt x="122651" y="116714"/>
                    <a:pt x="122651" y="105330"/>
                  </a:cubicBezTo>
                  <a:cubicBezTo>
                    <a:pt x="122651" y="91466"/>
                    <a:pt x="117236" y="78386"/>
                    <a:pt x="107450" y="68502"/>
                  </a:cubicBezTo>
                  <a:cubicBezTo>
                    <a:pt x="106830" y="67882"/>
                    <a:pt x="106015" y="67572"/>
                    <a:pt x="105195" y="67572"/>
                  </a:cubicBezTo>
                  <a:cubicBezTo>
                    <a:pt x="104376" y="67572"/>
                    <a:pt x="103552" y="67882"/>
                    <a:pt x="102916" y="68502"/>
                  </a:cubicBezTo>
                  <a:cubicBezTo>
                    <a:pt x="101676" y="69741"/>
                    <a:pt x="101676" y="71764"/>
                    <a:pt x="102916" y="73003"/>
                  </a:cubicBezTo>
                  <a:cubicBezTo>
                    <a:pt x="111495" y="81680"/>
                    <a:pt x="116257" y="93162"/>
                    <a:pt x="116257" y="105330"/>
                  </a:cubicBezTo>
                  <a:cubicBezTo>
                    <a:pt x="116257" y="123792"/>
                    <a:pt x="104841" y="140592"/>
                    <a:pt x="88009" y="147670"/>
                  </a:cubicBezTo>
                  <a:lnTo>
                    <a:pt x="88009" y="139450"/>
                  </a:lnTo>
                  <a:lnTo>
                    <a:pt x="88009" y="134263"/>
                  </a:lnTo>
                  <a:cubicBezTo>
                    <a:pt x="98088" y="128098"/>
                    <a:pt x="104253" y="117203"/>
                    <a:pt x="104253" y="105330"/>
                  </a:cubicBezTo>
                  <a:cubicBezTo>
                    <a:pt x="104253" y="87715"/>
                    <a:pt x="90749" y="73199"/>
                    <a:pt x="73558" y="71568"/>
                  </a:cubicBezTo>
                  <a:lnTo>
                    <a:pt x="73558" y="59564"/>
                  </a:lnTo>
                  <a:cubicBezTo>
                    <a:pt x="80506" y="60053"/>
                    <a:pt x="87291" y="62108"/>
                    <a:pt x="93293" y="65599"/>
                  </a:cubicBezTo>
                  <a:cubicBezTo>
                    <a:pt x="93800" y="65890"/>
                    <a:pt x="94353" y="66027"/>
                    <a:pt x="94898" y="66027"/>
                  </a:cubicBezTo>
                  <a:cubicBezTo>
                    <a:pt x="96002" y="66027"/>
                    <a:pt x="97074" y="65462"/>
                    <a:pt x="97664" y="64457"/>
                  </a:cubicBezTo>
                  <a:cubicBezTo>
                    <a:pt x="98545" y="62924"/>
                    <a:pt x="98023" y="60967"/>
                    <a:pt x="96522" y="60086"/>
                  </a:cubicBezTo>
                  <a:cubicBezTo>
                    <a:pt x="89509" y="56008"/>
                    <a:pt x="81615" y="53660"/>
                    <a:pt x="73558" y="53170"/>
                  </a:cubicBezTo>
                  <a:lnTo>
                    <a:pt x="73558" y="44754"/>
                  </a:lnTo>
                  <a:cubicBezTo>
                    <a:pt x="73558" y="42993"/>
                    <a:pt x="72123" y="41558"/>
                    <a:pt x="70361" y="41558"/>
                  </a:cubicBezTo>
                  <a:cubicBezTo>
                    <a:pt x="68567" y="41558"/>
                    <a:pt x="67165" y="42993"/>
                    <a:pt x="67165" y="44754"/>
                  </a:cubicBezTo>
                  <a:lnTo>
                    <a:pt x="67165" y="81811"/>
                  </a:lnTo>
                  <a:lnTo>
                    <a:pt x="39601" y="81811"/>
                  </a:lnTo>
                  <a:lnTo>
                    <a:pt x="39601" y="72449"/>
                  </a:lnTo>
                  <a:lnTo>
                    <a:pt x="44820" y="72449"/>
                  </a:lnTo>
                  <a:cubicBezTo>
                    <a:pt x="46581" y="72449"/>
                    <a:pt x="48017" y="71013"/>
                    <a:pt x="48017" y="69252"/>
                  </a:cubicBezTo>
                  <a:cubicBezTo>
                    <a:pt x="48017" y="67491"/>
                    <a:pt x="46581" y="66055"/>
                    <a:pt x="44820" y="66055"/>
                  </a:cubicBezTo>
                  <a:lnTo>
                    <a:pt x="39601" y="66055"/>
                  </a:lnTo>
                  <a:lnTo>
                    <a:pt x="39601" y="62467"/>
                  </a:lnTo>
                  <a:lnTo>
                    <a:pt x="44820" y="62467"/>
                  </a:lnTo>
                  <a:cubicBezTo>
                    <a:pt x="46581" y="62467"/>
                    <a:pt x="48017" y="61032"/>
                    <a:pt x="48017" y="59270"/>
                  </a:cubicBezTo>
                  <a:cubicBezTo>
                    <a:pt x="48017" y="57509"/>
                    <a:pt x="46581" y="56074"/>
                    <a:pt x="44820" y="56074"/>
                  </a:cubicBezTo>
                  <a:lnTo>
                    <a:pt x="39601" y="56074"/>
                  </a:lnTo>
                  <a:lnTo>
                    <a:pt x="39601" y="49354"/>
                  </a:lnTo>
                  <a:lnTo>
                    <a:pt x="57574" y="49354"/>
                  </a:lnTo>
                  <a:cubicBezTo>
                    <a:pt x="59336" y="49354"/>
                    <a:pt x="60771" y="47919"/>
                    <a:pt x="60771" y="46157"/>
                  </a:cubicBezTo>
                  <a:cubicBezTo>
                    <a:pt x="60771" y="44396"/>
                    <a:pt x="59336" y="42960"/>
                    <a:pt x="57574" y="42960"/>
                  </a:cubicBezTo>
                  <a:lnTo>
                    <a:pt x="39601" y="42960"/>
                  </a:lnTo>
                  <a:lnTo>
                    <a:pt x="39601" y="28901"/>
                  </a:lnTo>
                  <a:lnTo>
                    <a:pt x="67165" y="28901"/>
                  </a:lnTo>
                  <a:lnTo>
                    <a:pt x="67165" y="33501"/>
                  </a:lnTo>
                  <a:cubicBezTo>
                    <a:pt x="67165" y="35262"/>
                    <a:pt x="68567" y="36697"/>
                    <a:pt x="70361" y="36697"/>
                  </a:cubicBezTo>
                  <a:cubicBezTo>
                    <a:pt x="72123" y="36697"/>
                    <a:pt x="73558" y="35262"/>
                    <a:pt x="73558" y="33501"/>
                  </a:cubicBezTo>
                  <a:lnTo>
                    <a:pt x="73558" y="25704"/>
                  </a:lnTo>
                  <a:cubicBezTo>
                    <a:pt x="73558" y="23910"/>
                    <a:pt x="72123" y="22508"/>
                    <a:pt x="70361" y="22508"/>
                  </a:cubicBezTo>
                  <a:lnTo>
                    <a:pt x="63935" y="22508"/>
                  </a:lnTo>
                  <a:lnTo>
                    <a:pt x="63935" y="18561"/>
                  </a:lnTo>
                  <a:lnTo>
                    <a:pt x="65142" y="18561"/>
                  </a:lnTo>
                  <a:cubicBezTo>
                    <a:pt x="69774" y="18561"/>
                    <a:pt x="73558" y="14777"/>
                    <a:pt x="73558" y="10145"/>
                  </a:cubicBezTo>
                  <a:lnTo>
                    <a:pt x="73558" y="8416"/>
                  </a:lnTo>
                  <a:cubicBezTo>
                    <a:pt x="73558" y="3784"/>
                    <a:pt x="69774" y="0"/>
                    <a:pt x="65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74"/>
            <p:cNvSpPr/>
            <p:nvPr/>
          </p:nvSpPr>
          <p:spPr>
            <a:xfrm>
              <a:off x="1993050" y="2329850"/>
              <a:ext cx="613300" cy="613300"/>
            </a:xfrm>
            <a:custGeom>
              <a:rect b="b" l="l" r="r" t="t"/>
              <a:pathLst>
                <a:path extrusionOk="0" h="24532" w="24532">
                  <a:moveTo>
                    <a:pt x="12266" y="1"/>
                  </a:moveTo>
                  <a:cubicBezTo>
                    <a:pt x="10505" y="1"/>
                    <a:pt x="9069" y="1436"/>
                    <a:pt x="9069" y="3198"/>
                  </a:cubicBezTo>
                  <a:lnTo>
                    <a:pt x="9069" y="9069"/>
                  </a:lnTo>
                  <a:lnTo>
                    <a:pt x="3198" y="9069"/>
                  </a:lnTo>
                  <a:cubicBezTo>
                    <a:pt x="1436" y="9069"/>
                    <a:pt x="1" y="10505"/>
                    <a:pt x="1" y="12266"/>
                  </a:cubicBezTo>
                  <a:cubicBezTo>
                    <a:pt x="1" y="14027"/>
                    <a:pt x="1436" y="15463"/>
                    <a:pt x="3198" y="15463"/>
                  </a:cubicBezTo>
                  <a:lnTo>
                    <a:pt x="9069" y="15463"/>
                  </a:lnTo>
                  <a:lnTo>
                    <a:pt x="9069" y="21334"/>
                  </a:lnTo>
                  <a:cubicBezTo>
                    <a:pt x="9069" y="23096"/>
                    <a:pt x="10505" y="24531"/>
                    <a:pt x="12266" y="24531"/>
                  </a:cubicBezTo>
                  <a:cubicBezTo>
                    <a:pt x="14027" y="24531"/>
                    <a:pt x="15463" y="23096"/>
                    <a:pt x="15463" y="21334"/>
                  </a:cubicBezTo>
                  <a:lnTo>
                    <a:pt x="15463" y="15463"/>
                  </a:lnTo>
                  <a:lnTo>
                    <a:pt x="21334" y="15463"/>
                  </a:lnTo>
                  <a:cubicBezTo>
                    <a:pt x="23096" y="15463"/>
                    <a:pt x="24531" y="14027"/>
                    <a:pt x="24531" y="12266"/>
                  </a:cubicBezTo>
                  <a:cubicBezTo>
                    <a:pt x="24531" y="10505"/>
                    <a:pt x="23096" y="9069"/>
                    <a:pt x="21334" y="9069"/>
                  </a:cubicBezTo>
                  <a:lnTo>
                    <a:pt x="15463" y="9069"/>
                  </a:lnTo>
                  <a:lnTo>
                    <a:pt x="15463" y="3198"/>
                  </a:lnTo>
                  <a:cubicBezTo>
                    <a:pt x="15463" y="1436"/>
                    <a:pt x="14027" y="1"/>
                    <a:pt x="122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74"/>
            <p:cNvSpPr/>
            <p:nvPr/>
          </p:nvSpPr>
          <p:spPr>
            <a:xfrm>
              <a:off x="4482775" y="822825"/>
              <a:ext cx="614100" cy="614100"/>
            </a:xfrm>
            <a:custGeom>
              <a:rect b="b" l="l" r="r" t="t"/>
              <a:pathLst>
                <a:path extrusionOk="0" h="24564" w="24564">
                  <a:moveTo>
                    <a:pt x="12265" y="0"/>
                  </a:moveTo>
                  <a:cubicBezTo>
                    <a:pt x="10504" y="0"/>
                    <a:pt x="9069" y="1436"/>
                    <a:pt x="9069" y="3197"/>
                  </a:cubicBezTo>
                  <a:lnTo>
                    <a:pt x="9069" y="9101"/>
                  </a:lnTo>
                  <a:lnTo>
                    <a:pt x="3197" y="9101"/>
                  </a:lnTo>
                  <a:cubicBezTo>
                    <a:pt x="1436" y="9101"/>
                    <a:pt x="0" y="10504"/>
                    <a:pt x="0" y="12266"/>
                  </a:cubicBezTo>
                  <a:cubicBezTo>
                    <a:pt x="0" y="14060"/>
                    <a:pt x="1436" y="15462"/>
                    <a:pt x="3197" y="15462"/>
                  </a:cubicBezTo>
                  <a:lnTo>
                    <a:pt x="9069" y="15462"/>
                  </a:lnTo>
                  <a:lnTo>
                    <a:pt x="9069" y="21366"/>
                  </a:lnTo>
                  <a:cubicBezTo>
                    <a:pt x="9069" y="23128"/>
                    <a:pt x="10504" y="24563"/>
                    <a:pt x="12265" y="24563"/>
                  </a:cubicBezTo>
                  <a:cubicBezTo>
                    <a:pt x="14027" y="24563"/>
                    <a:pt x="15462" y="23128"/>
                    <a:pt x="15462" y="21366"/>
                  </a:cubicBezTo>
                  <a:lnTo>
                    <a:pt x="15462" y="15462"/>
                  </a:lnTo>
                  <a:lnTo>
                    <a:pt x="21366" y="15462"/>
                  </a:lnTo>
                  <a:cubicBezTo>
                    <a:pt x="23128" y="15462"/>
                    <a:pt x="24563" y="14060"/>
                    <a:pt x="24563" y="12266"/>
                  </a:cubicBezTo>
                  <a:cubicBezTo>
                    <a:pt x="24563" y="10504"/>
                    <a:pt x="23128" y="9101"/>
                    <a:pt x="21366" y="9101"/>
                  </a:cubicBezTo>
                  <a:lnTo>
                    <a:pt x="15462" y="9101"/>
                  </a:lnTo>
                  <a:lnTo>
                    <a:pt x="15462" y="3197"/>
                  </a:lnTo>
                  <a:cubicBezTo>
                    <a:pt x="15462" y="1436"/>
                    <a:pt x="14027" y="0"/>
                    <a:pt x="122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0" name="Google Shape;620;p74"/>
          <p:cNvGrpSpPr/>
          <p:nvPr/>
        </p:nvGrpSpPr>
        <p:grpSpPr>
          <a:xfrm>
            <a:off x="6930223" y="1889198"/>
            <a:ext cx="600730" cy="522073"/>
            <a:chOff x="1190625" y="579800"/>
            <a:chExt cx="5219200" cy="4535825"/>
          </a:xfrm>
        </p:grpSpPr>
        <p:sp>
          <p:nvSpPr>
            <p:cNvPr id="621" name="Google Shape;621;p74"/>
            <p:cNvSpPr/>
            <p:nvPr/>
          </p:nvSpPr>
          <p:spPr>
            <a:xfrm>
              <a:off x="4907650" y="2826500"/>
              <a:ext cx="159050" cy="302575"/>
            </a:xfrm>
            <a:custGeom>
              <a:rect b="b" l="l" r="r" t="t"/>
              <a:pathLst>
                <a:path extrusionOk="0" h="12103" w="6362">
                  <a:moveTo>
                    <a:pt x="3197" y="0"/>
                  </a:moveTo>
                  <a:cubicBezTo>
                    <a:pt x="1403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03" y="12102"/>
                    <a:pt x="3197" y="12102"/>
                  </a:cubicBezTo>
                  <a:cubicBezTo>
                    <a:pt x="4959" y="12102"/>
                    <a:pt x="6361" y="10667"/>
                    <a:pt x="6361" y="8906"/>
                  </a:cubicBezTo>
                  <a:lnTo>
                    <a:pt x="6361" y="3197"/>
                  </a:lnTo>
                  <a:cubicBezTo>
                    <a:pt x="6361" y="1436"/>
                    <a:pt x="4959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74"/>
            <p:cNvSpPr/>
            <p:nvPr/>
          </p:nvSpPr>
          <p:spPr>
            <a:xfrm>
              <a:off x="5214275" y="2826500"/>
              <a:ext cx="159850" cy="302575"/>
            </a:xfrm>
            <a:custGeom>
              <a:rect b="b" l="l" r="r" t="t"/>
              <a:pathLst>
                <a:path extrusionOk="0" h="12103" w="6394">
                  <a:moveTo>
                    <a:pt x="3197" y="0"/>
                  </a:moveTo>
                  <a:cubicBezTo>
                    <a:pt x="1436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36" y="12102"/>
                    <a:pt x="3197" y="12102"/>
                  </a:cubicBezTo>
                  <a:cubicBezTo>
                    <a:pt x="4959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9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74"/>
            <p:cNvSpPr/>
            <p:nvPr/>
          </p:nvSpPr>
          <p:spPr>
            <a:xfrm>
              <a:off x="5521725" y="2826500"/>
              <a:ext cx="159850" cy="302575"/>
            </a:xfrm>
            <a:custGeom>
              <a:rect b="b" l="l" r="r" t="t"/>
              <a:pathLst>
                <a:path extrusionOk="0" h="12103" w="6394">
                  <a:moveTo>
                    <a:pt x="3197" y="0"/>
                  </a:moveTo>
                  <a:cubicBezTo>
                    <a:pt x="1435" y="0"/>
                    <a:pt x="0" y="1436"/>
                    <a:pt x="0" y="3197"/>
                  </a:cubicBezTo>
                  <a:lnTo>
                    <a:pt x="0" y="8906"/>
                  </a:lnTo>
                  <a:cubicBezTo>
                    <a:pt x="0" y="10667"/>
                    <a:pt x="1435" y="12102"/>
                    <a:pt x="3197" y="12102"/>
                  </a:cubicBezTo>
                  <a:cubicBezTo>
                    <a:pt x="4958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8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74"/>
            <p:cNvSpPr/>
            <p:nvPr/>
          </p:nvSpPr>
          <p:spPr>
            <a:xfrm>
              <a:off x="5829150" y="2826500"/>
              <a:ext cx="159875" cy="302575"/>
            </a:xfrm>
            <a:custGeom>
              <a:rect b="b" l="l" r="r" t="t"/>
              <a:pathLst>
                <a:path extrusionOk="0" h="12103" w="6395">
                  <a:moveTo>
                    <a:pt x="3198" y="0"/>
                  </a:moveTo>
                  <a:cubicBezTo>
                    <a:pt x="1403" y="0"/>
                    <a:pt x="1" y="1436"/>
                    <a:pt x="1" y="3197"/>
                  </a:cubicBezTo>
                  <a:lnTo>
                    <a:pt x="1" y="8906"/>
                  </a:lnTo>
                  <a:cubicBezTo>
                    <a:pt x="1" y="10667"/>
                    <a:pt x="1403" y="12102"/>
                    <a:pt x="3198" y="12102"/>
                  </a:cubicBezTo>
                  <a:cubicBezTo>
                    <a:pt x="4959" y="12102"/>
                    <a:pt x="6394" y="10667"/>
                    <a:pt x="6394" y="8906"/>
                  </a:cubicBezTo>
                  <a:lnTo>
                    <a:pt x="6394" y="3197"/>
                  </a:lnTo>
                  <a:cubicBezTo>
                    <a:pt x="6394" y="1436"/>
                    <a:pt x="4959" y="0"/>
                    <a:pt x="31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74"/>
            <p:cNvSpPr/>
            <p:nvPr/>
          </p:nvSpPr>
          <p:spPr>
            <a:xfrm>
              <a:off x="1818550" y="1179200"/>
              <a:ext cx="3963325" cy="1485850"/>
            </a:xfrm>
            <a:custGeom>
              <a:rect b="b" l="l" r="r" t="t"/>
              <a:pathLst>
                <a:path extrusionOk="0" h="59434" w="158533">
                  <a:moveTo>
                    <a:pt x="145289" y="6394"/>
                  </a:moveTo>
                  <a:cubicBezTo>
                    <a:pt x="149073" y="6394"/>
                    <a:pt x="152139" y="9460"/>
                    <a:pt x="152139" y="13244"/>
                  </a:cubicBezTo>
                  <a:cubicBezTo>
                    <a:pt x="152139" y="17028"/>
                    <a:pt x="149073" y="20094"/>
                    <a:pt x="145289" y="20094"/>
                  </a:cubicBezTo>
                  <a:cubicBezTo>
                    <a:pt x="141505" y="20094"/>
                    <a:pt x="138439" y="17028"/>
                    <a:pt x="138439" y="13244"/>
                  </a:cubicBezTo>
                  <a:cubicBezTo>
                    <a:pt x="138439" y="9460"/>
                    <a:pt x="141505" y="6394"/>
                    <a:pt x="145289" y="6394"/>
                  </a:cubicBezTo>
                  <a:close/>
                  <a:moveTo>
                    <a:pt x="60902" y="10080"/>
                  </a:moveTo>
                  <a:cubicBezTo>
                    <a:pt x="64653" y="10080"/>
                    <a:pt x="67752" y="13146"/>
                    <a:pt x="67752" y="16930"/>
                  </a:cubicBezTo>
                  <a:cubicBezTo>
                    <a:pt x="67752" y="20714"/>
                    <a:pt x="64653" y="23780"/>
                    <a:pt x="60902" y="23780"/>
                  </a:cubicBezTo>
                  <a:cubicBezTo>
                    <a:pt x="57118" y="23780"/>
                    <a:pt x="54019" y="20714"/>
                    <a:pt x="54019" y="16930"/>
                  </a:cubicBezTo>
                  <a:cubicBezTo>
                    <a:pt x="54019" y="13146"/>
                    <a:pt x="57118" y="10080"/>
                    <a:pt x="60902" y="10080"/>
                  </a:cubicBezTo>
                  <a:close/>
                  <a:moveTo>
                    <a:pt x="13244" y="27988"/>
                  </a:moveTo>
                  <a:cubicBezTo>
                    <a:pt x="17028" y="27988"/>
                    <a:pt x="20094" y="31054"/>
                    <a:pt x="20094" y="34838"/>
                  </a:cubicBezTo>
                  <a:cubicBezTo>
                    <a:pt x="20094" y="38622"/>
                    <a:pt x="17028" y="41689"/>
                    <a:pt x="13244" y="41689"/>
                  </a:cubicBezTo>
                  <a:cubicBezTo>
                    <a:pt x="9460" y="41689"/>
                    <a:pt x="6394" y="38622"/>
                    <a:pt x="6394" y="34838"/>
                  </a:cubicBezTo>
                  <a:cubicBezTo>
                    <a:pt x="6394" y="31054"/>
                    <a:pt x="9460" y="27988"/>
                    <a:pt x="13244" y="27988"/>
                  </a:cubicBezTo>
                  <a:close/>
                  <a:moveTo>
                    <a:pt x="100828" y="39340"/>
                  </a:moveTo>
                  <a:cubicBezTo>
                    <a:pt x="104612" y="39340"/>
                    <a:pt x="107678" y="42406"/>
                    <a:pt x="107678" y="46190"/>
                  </a:cubicBezTo>
                  <a:cubicBezTo>
                    <a:pt x="107678" y="49974"/>
                    <a:pt x="104612" y="53040"/>
                    <a:pt x="100828" y="53040"/>
                  </a:cubicBezTo>
                  <a:cubicBezTo>
                    <a:pt x="97044" y="53040"/>
                    <a:pt x="93978" y="49974"/>
                    <a:pt x="93978" y="46190"/>
                  </a:cubicBezTo>
                  <a:cubicBezTo>
                    <a:pt x="93978" y="42406"/>
                    <a:pt x="97044" y="39340"/>
                    <a:pt x="100828" y="39340"/>
                  </a:cubicBezTo>
                  <a:close/>
                  <a:moveTo>
                    <a:pt x="145289" y="0"/>
                  </a:moveTo>
                  <a:cubicBezTo>
                    <a:pt x="137982" y="0"/>
                    <a:pt x="132046" y="5937"/>
                    <a:pt x="132046" y="13244"/>
                  </a:cubicBezTo>
                  <a:cubicBezTo>
                    <a:pt x="132046" y="15071"/>
                    <a:pt x="132404" y="16800"/>
                    <a:pt x="133057" y="18365"/>
                  </a:cubicBezTo>
                  <a:lnTo>
                    <a:pt x="109309" y="36013"/>
                  </a:lnTo>
                  <a:cubicBezTo>
                    <a:pt x="106993" y="34121"/>
                    <a:pt x="104058" y="32946"/>
                    <a:pt x="100828" y="32946"/>
                  </a:cubicBezTo>
                  <a:cubicBezTo>
                    <a:pt x="97632" y="32946"/>
                    <a:pt x="94696" y="34088"/>
                    <a:pt x="92412" y="35980"/>
                  </a:cubicBezTo>
                  <a:lnTo>
                    <a:pt x="73167" y="21921"/>
                  </a:lnTo>
                  <a:cubicBezTo>
                    <a:pt x="73786" y="20388"/>
                    <a:pt x="74145" y="18692"/>
                    <a:pt x="74145" y="16930"/>
                  </a:cubicBezTo>
                  <a:cubicBezTo>
                    <a:pt x="74145" y="9623"/>
                    <a:pt x="68176" y="3686"/>
                    <a:pt x="60902" y="3686"/>
                  </a:cubicBezTo>
                  <a:cubicBezTo>
                    <a:pt x="53595" y="3686"/>
                    <a:pt x="47625" y="9623"/>
                    <a:pt x="47625" y="16930"/>
                  </a:cubicBezTo>
                  <a:cubicBezTo>
                    <a:pt x="47625" y="17452"/>
                    <a:pt x="47691" y="17974"/>
                    <a:pt x="47723" y="18463"/>
                  </a:cubicBezTo>
                  <a:lnTo>
                    <a:pt x="24139" y="27336"/>
                  </a:lnTo>
                  <a:cubicBezTo>
                    <a:pt x="21758" y="23878"/>
                    <a:pt x="17746" y="21595"/>
                    <a:pt x="13244" y="21595"/>
                  </a:cubicBezTo>
                  <a:cubicBezTo>
                    <a:pt x="5937" y="21595"/>
                    <a:pt x="0" y="27531"/>
                    <a:pt x="0" y="34838"/>
                  </a:cubicBezTo>
                  <a:cubicBezTo>
                    <a:pt x="0" y="42145"/>
                    <a:pt x="5937" y="48082"/>
                    <a:pt x="13244" y="48082"/>
                  </a:cubicBezTo>
                  <a:cubicBezTo>
                    <a:pt x="20551" y="48082"/>
                    <a:pt x="26488" y="42145"/>
                    <a:pt x="26488" y="34838"/>
                  </a:cubicBezTo>
                  <a:cubicBezTo>
                    <a:pt x="26488" y="34316"/>
                    <a:pt x="26455" y="33827"/>
                    <a:pt x="26390" y="33305"/>
                  </a:cubicBezTo>
                  <a:lnTo>
                    <a:pt x="49974" y="24433"/>
                  </a:lnTo>
                  <a:cubicBezTo>
                    <a:pt x="52388" y="27890"/>
                    <a:pt x="56367" y="30174"/>
                    <a:pt x="60902" y="30174"/>
                  </a:cubicBezTo>
                  <a:cubicBezTo>
                    <a:pt x="64131" y="30174"/>
                    <a:pt x="67067" y="28999"/>
                    <a:pt x="69383" y="27075"/>
                  </a:cubicBezTo>
                  <a:lnTo>
                    <a:pt x="88596" y="41101"/>
                  </a:lnTo>
                  <a:cubicBezTo>
                    <a:pt x="87943" y="42667"/>
                    <a:pt x="87585" y="44396"/>
                    <a:pt x="87585" y="46190"/>
                  </a:cubicBezTo>
                  <a:cubicBezTo>
                    <a:pt x="87585" y="53497"/>
                    <a:pt x="93521" y="59434"/>
                    <a:pt x="100828" y="59434"/>
                  </a:cubicBezTo>
                  <a:cubicBezTo>
                    <a:pt x="108135" y="59434"/>
                    <a:pt x="114072" y="53497"/>
                    <a:pt x="114072" y="46190"/>
                  </a:cubicBezTo>
                  <a:cubicBezTo>
                    <a:pt x="114072" y="44429"/>
                    <a:pt x="113713" y="42732"/>
                    <a:pt x="113093" y="41167"/>
                  </a:cubicBezTo>
                  <a:lnTo>
                    <a:pt x="136873" y="23487"/>
                  </a:lnTo>
                  <a:cubicBezTo>
                    <a:pt x="139189" y="25379"/>
                    <a:pt x="142092" y="26488"/>
                    <a:pt x="145289" y="26488"/>
                  </a:cubicBezTo>
                  <a:cubicBezTo>
                    <a:pt x="152596" y="26488"/>
                    <a:pt x="158533" y="20551"/>
                    <a:pt x="158533" y="13244"/>
                  </a:cubicBezTo>
                  <a:cubicBezTo>
                    <a:pt x="158533" y="5937"/>
                    <a:pt x="152596" y="0"/>
                    <a:pt x="1452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74"/>
            <p:cNvSpPr/>
            <p:nvPr/>
          </p:nvSpPr>
          <p:spPr>
            <a:xfrm>
              <a:off x="1591825" y="2677275"/>
              <a:ext cx="1310550" cy="159025"/>
            </a:xfrm>
            <a:custGeom>
              <a:rect b="b" l="l" r="r" t="t"/>
              <a:pathLst>
                <a:path extrusionOk="0" h="6361" w="52422">
                  <a:moveTo>
                    <a:pt x="3198" y="0"/>
                  </a:moveTo>
                  <a:cubicBezTo>
                    <a:pt x="1436" y="0"/>
                    <a:pt x="1" y="1403"/>
                    <a:pt x="1" y="3164"/>
                  </a:cubicBezTo>
                  <a:cubicBezTo>
                    <a:pt x="1" y="4958"/>
                    <a:pt x="1436" y="6361"/>
                    <a:pt x="3198" y="6361"/>
                  </a:cubicBezTo>
                  <a:lnTo>
                    <a:pt x="49224" y="6361"/>
                  </a:lnTo>
                  <a:cubicBezTo>
                    <a:pt x="50986" y="6361"/>
                    <a:pt x="52421" y="4958"/>
                    <a:pt x="52421" y="3164"/>
                  </a:cubicBezTo>
                  <a:cubicBezTo>
                    <a:pt x="52421" y="1403"/>
                    <a:pt x="50986" y="0"/>
                    <a:pt x="49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74"/>
            <p:cNvSpPr/>
            <p:nvPr/>
          </p:nvSpPr>
          <p:spPr>
            <a:xfrm>
              <a:off x="1591825" y="2969200"/>
              <a:ext cx="1038975" cy="159875"/>
            </a:xfrm>
            <a:custGeom>
              <a:rect b="b" l="l" r="r" t="t"/>
              <a:pathLst>
                <a:path extrusionOk="0" h="6395" w="41559">
                  <a:moveTo>
                    <a:pt x="3198" y="1"/>
                  </a:moveTo>
                  <a:cubicBezTo>
                    <a:pt x="1436" y="1"/>
                    <a:pt x="1" y="1436"/>
                    <a:pt x="1" y="3198"/>
                  </a:cubicBezTo>
                  <a:cubicBezTo>
                    <a:pt x="1" y="4959"/>
                    <a:pt x="1436" y="6394"/>
                    <a:pt x="3198" y="6394"/>
                  </a:cubicBezTo>
                  <a:lnTo>
                    <a:pt x="38362" y="6394"/>
                  </a:lnTo>
                  <a:cubicBezTo>
                    <a:pt x="40123" y="6394"/>
                    <a:pt x="41559" y="4959"/>
                    <a:pt x="41559" y="3198"/>
                  </a:cubicBezTo>
                  <a:cubicBezTo>
                    <a:pt x="41559" y="1436"/>
                    <a:pt x="40123" y="1"/>
                    <a:pt x="38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74"/>
            <p:cNvSpPr/>
            <p:nvPr/>
          </p:nvSpPr>
          <p:spPr>
            <a:xfrm>
              <a:off x="1190625" y="579800"/>
              <a:ext cx="5219200" cy="4535825"/>
            </a:xfrm>
            <a:custGeom>
              <a:rect b="b" l="l" r="r" t="t"/>
              <a:pathLst>
                <a:path extrusionOk="0" h="181433" w="208768">
                  <a:moveTo>
                    <a:pt x="124575" y="141016"/>
                  </a:moveTo>
                  <a:lnTo>
                    <a:pt x="127054" y="160490"/>
                  </a:lnTo>
                  <a:lnTo>
                    <a:pt x="81713" y="160490"/>
                  </a:lnTo>
                  <a:lnTo>
                    <a:pt x="84192" y="141016"/>
                  </a:lnTo>
                  <a:close/>
                  <a:moveTo>
                    <a:pt x="148812" y="166884"/>
                  </a:moveTo>
                  <a:lnTo>
                    <a:pt x="148812" y="175039"/>
                  </a:lnTo>
                  <a:lnTo>
                    <a:pt x="59955" y="175039"/>
                  </a:lnTo>
                  <a:lnTo>
                    <a:pt x="59955" y="166884"/>
                  </a:lnTo>
                  <a:close/>
                  <a:moveTo>
                    <a:pt x="15201" y="1"/>
                  </a:moveTo>
                  <a:cubicBezTo>
                    <a:pt x="6818" y="1"/>
                    <a:pt x="0" y="6818"/>
                    <a:pt x="0" y="15202"/>
                  </a:cubicBezTo>
                  <a:lnTo>
                    <a:pt x="0" y="125816"/>
                  </a:lnTo>
                  <a:cubicBezTo>
                    <a:pt x="0" y="134199"/>
                    <a:pt x="6818" y="141016"/>
                    <a:pt x="15201" y="141016"/>
                  </a:cubicBezTo>
                  <a:lnTo>
                    <a:pt x="77733" y="141016"/>
                  </a:lnTo>
                  <a:lnTo>
                    <a:pt x="75254" y="160490"/>
                  </a:lnTo>
                  <a:lnTo>
                    <a:pt x="56759" y="160490"/>
                  </a:lnTo>
                  <a:cubicBezTo>
                    <a:pt x="54997" y="160490"/>
                    <a:pt x="53562" y="161926"/>
                    <a:pt x="53562" y="163687"/>
                  </a:cubicBezTo>
                  <a:lnTo>
                    <a:pt x="53562" y="178236"/>
                  </a:lnTo>
                  <a:cubicBezTo>
                    <a:pt x="53562" y="179997"/>
                    <a:pt x="54997" y="181432"/>
                    <a:pt x="56759" y="181432"/>
                  </a:cubicBezTo>
                  <a:lnTo>
                    <a:pt x="152009" y="181432"/>
                  </a:lnTo>
                  <a:cubicBezTo>
                    <a:pt x="153770" y="181432"/>
                    <a:pt x="155205" y="179997"/>
                    <a:pt x="155205" y="178236"/>
                  </a:cubicBezTo>
                  <a:lnTo>
                    <a:pt x="155205" y="163687"/>
                  </a:lnTo>
                  <a:cubicBezTo>
                    <a:pt x="155205" y="161926"/>
                    <a:pt x="153770" y="160490"/>
                    <a:pt x="152009" y="160490"/>
                  </a:cubicBezTo>
                  <a:lnTo>
                    <a:pt x="133513" y="160490"/>
                  </a:lnTo>
                  <a:lnTo>
                    <a:pt x="131034" y="141016"/>
                  </a:lnTo>
                  <a:lnTo>
                    <a:pt x="158859" y="141016"/>
                  </a:lnTo>
                  <a:cubicBezTo>
                    <a:pt x="160620" y="141016"/>
                    <a:pt x="162055" y="139581"/>
                    <a:pt x="162055" y="137820"/>
                  </a:cubicBezTo>
                  <a:cubicBezTo>
                    <a:pt x="162055" y="136058"/>
                    <a:pt x="160620" y="134623"/>
                    <a:pt x="158859" y="134623"/>
                  </a:cubicBezTo>
                  <a:lnTo>
                    <a:pt x="15201" y="134623"/>
                  </a:lnTo>
                  <a:cubicBezTo>
                    <a:pt x="10340" y="134623"/>
                    <a:pt x="6393" y="130676"/>
                    <a:pt x="6393" y="125816"/>
                  </a:cubicBezTo>
                  <a:lnTo>
                    <a:pt x="6393" y="118476"/>
                  </a:lnTo>
                  <a:lnTo>
                    <a:pt x="202374" y="118476"/>
                  </a:lnTo>
                  <a:lnTo>
                    <a:pt x="202374" y="125816"/>
                  </a:lnTo>
                  <a:cubicBezTo>
                    <a:pt x="202374" y="130676"/>
                    <a:pt x="198427" y="134623"/>
                    <a:pt x="193566" y="134623"/>
                  </a:cubicBezTo>
                  <a:lnTo>
                    <a:pt x="173375" y="134623"/>
                  </a:lnTo>
                  <a:cubicBezTo>
                    <a:pt x="171580" y="134623"/>
                    <a:pt x="170178" y="136058"/>
                    <a:pt x="170178" y="137820"/>
                  </a:cubicBezTo>
                  <a:cubicBezTo>
                    <a:pt x="170178" y="139581"/>
                    <a:pt x="171580" y="141016"/>
                    <a:pt x="173375" y="141016"/>
                  </a:cubicBezTo>
                  <a:lnTo>
                    <a:pt x="193566" y="141016"/>
                  </a:lnTo>
                  <a:cubicBezTo>
                    <a:pt x="201950" y="141016"/>
                    <a:pt x="208767" y="134199"/>
                    <a:pt x="208767" y="125816"/>
                  </a:cubicBezTo>
                  <a:lnTo>
                    <a:pt x="208767" y="15202"/>
                  </a:lnTo>
                  <a:cubicBezTo>
                    <a:pt x="208767" y="6818"/>
                    <a:pt x="201950" y="1"/>
                    <a:pt x="193566" y="1"/>
                  </a:cubicBezTo>
                  <a:lnTo>
                    <a:pt x="56595" y="1"/>
                  </a:lnTo>
                  <a:cubicBezTo>
                    <a:pt x="54834" y="1"/>
                    <a:pt x="53399" y="1436"/>
                    <a:pt x="53399" y="3197"/>
                  </a:cubicBezTo>
                  <a:cubicBezTo>
                    <a:pt x="53399" y="4959"/>
                    <a:pt x="54834" y="6394"/>
                    <a:pt x="56595" y="6394"/>
                  </a:cubicBezTo>
                  <a:lnTo>
                    <a:pt x="193566" y="6394"/>
                  </a:lnTo>
                  <a:cubicBezTo>
                    <a:pt x="198427" y="6394"/>
                    <a:pt x="202374" y="10341"/>
                    <a:pt x="202374" y="15202"/>
                  </a:cubicBezTo>
                  <a:lnTo>
                    <a:pt x="202374" y="112115"/>
                  </a:lnTo>
                  <a:lnTo>
                    <a:pt x="6393" y="112115"/>
                  </a:lnTo>
                  <a:lnTo>
                    <a:pt x="6393" y="15202"/>
                  </a:lnTo>
                  <a:cubicBezTo>
                    <a:pt x="6393" y="10341"/>
                    <a:pt x="10340" y="6394"/>
                    <a:pt x="15201" y="6394"/>
                  </a:cubicBezTo>
                  <a:lnTo>
                    <a:pt x="42569" y="6394"/>
                  </a:lnTo>
                  <a:cubicBezTo>
                    <a:pt x="44330" y="6394"/>
                    <a:pt x="45766" y="4959"/>
                    <a:pt x="45766" y="3197"/>
                  </a:cubicBezTo>
                  <a:cubicBezTo>
                    <a:pt x="45766" y="1436"/>
                    <a:pt x="44330" y="1"/>
                    <a:pt x="42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9" name="Google Shape;629;p74"/>
          <p:cNvGrpSpPr/>
          <p:nvPr/>
        </p:nvGrpSpPr>
        <p:grpSpPr>
          <a:xfrm>
            <a:off x="1612485" y="1882442"/>
            <a:ext cx="601855" cy="528830"/>
            <a:chOff x="1185725" y="550450"/>
            <a:chExt cx="5228975" cy="4594525"/>
          </a:xfrm>
        </p:grpSpPr>
        <p:sp>
          <p:nvSpPr>
            <p:cNvPr id="630" name="Google Shape;630;p74"/>
            <p:cNvSpPr/>
            <p:nvPr/>
          </p:nvSpPr>
          <p:spPr>
            <a:xfrm>
              <a:off x="5152300" y="551275"/>
              <a:ext cx="213675" cy="159850"/>
            </a:xfrm>
            <a:custGeom>
              <a:rect b="b" l="l" r="r" t="t"/>
              <a:pathLst>
                <a:path extrusionOk="0" h="6394" w="8547">
                  <a:moveTo>
                    <a:pt x="3197" y="0"/>
                  </a:moveTo>
                  <a:cubicBezTo>
                    <a:pt x="1436" y="0"/>
                    <a:pt x="0" y="1435"/>
                    <a:pt x="0" y="3197"/>
                  </a:cubicBezTo>
                  <a:cubicBezTo>
                    <a:pt x="0" y="4958"/>
                    <a:pt x="1436" y="6394"/>
                    <a:pt x="3197" y="6394"/>
                  </a:cubicBezTo>
                  <a:lnTo>
                    <a:pt x="5350" y="6394"/>
                  </a:lnTo>
                  <a:cubicBezTo>
                    <a:pt x="7111" y="6394"/>
                    <a:pt x="8547" y="4958"/>
                    <a:pt x="8547" y="3197"/>
                  </a:cubicBezTo>
                  <a:cubicBezTo>
                    <a:pt x="8547" y="1435"/>
                    <a:pt x="7111" y="0"/>
                    <a:pt x="53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74"/>
            <p:cNvSpPr/>
            <p:nvPr/>
          </p:nvSpPr>
          <p:spPr>
            <a:xfrm>
              <a:off x="5488275" y="551275"/>
              <a:ext cx="610025" cy="945175"/>
            </a:xfrm>
            <a:custGeom>
              <a:rect b="b" l="l" r="r" t="t"/>
              <a:pathLst>
                <a:path extrusionOk="0" h="37807" w="24401">
                  <a:moveTo>
                    <a:pt x="3197" y="0"/>
                  </a:moveTo>
                  <a:cubicBezTo>
                    <a:pt x="1436" y="0"/>
                    <a:pt x="1" y="1435"/>
                    <a:pt x="1" y="3197"/>
                  </a:cubicBezTo>
                  <a:cubicBezTo>
                    <a:pt x="1" y="4958"/>
                    <a:pt x="1436" y="6394"/>
                    <a:pt x="3197" y="6394"/>
                  </a:cubicBezTo>
                  <a:lnTo>
                    <a:pt x="14223" y="6394"/>
                  </a:lnTo>
                  <a:cubicBezTo>
                    <a:pt x="16311" y="6394"/>
                    <a:pt x="18007" y="8090"/>
                    <a:pt x="18007" y="10177"/>
                  </a:cubicBezTo>
                  <a:lnTo>
                    <a:pt x="18007" y="34642"/>
                  </a:lnTo>
                  <a:cubicBezTo>
                    <a:pt x="18007" y="36404"/>
                    <a:pt x="19442" y="37806"/>
                    <a:pt x="21204" y="37806"/>
                  </a:cubicBezTo>
                  <a:cubicBezTo>
                    <a:pt x="22965" y="37806"/>
                    <a:pt x="24400" y="36404"/>
                    <a:pt x="24400" y="34642"/>
                  </a:cubicBezTo>
                  <a:lnTo>
                    <a:pt x="24400" y="10177"/>
                  </a:lnTo>
                  <a:cubicBezTo>
                    <a:pt x="24400" y="4567"/>
                    <a:pt x="19834" y="0"/>
                    <a:pt x="142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74"/>
            <p:cNvSpPr/>
            <p:nvPr/>
          </p:nvSpPr>
          <p:spPr>
            <a:xfrm>
              <a:off x="5152300" y="4198975"/>
              <a:ext cx="946000" cy="946000"/>
            </a:xfrm>
            <a:custGeom>
              <a:rect b="b" l="l" r="r" t="t"/>
              <a:pathLst>
                <a:path extrusionOk="0" h="37840" w="37840">
                  <a:moveTo>
                    <a:pt x="34643" y="1"/>
                  </a:moveTo>
                  <a:cubicBezTo>
                    <a:pt x="32881" y="1"/>
                    <a:pt x="31446" y="1436"/>
                    <a:pt x="31446" y="3197"/>
                  </a:cubicBezTo>
                  <a:lnTo>
                    <a:pt x="31446" y="27662"/>
                  </a:lnTo>
                  <a:cubicBezTo>
                    <a:pt x="31446" y="29750"/>
                    <a:pt x="29750" y="31446"/>
                    <a:pt x="27662" y="31446"/>
                  </a:cubicBezTo>
                  <a:lnTo>
                    <a:pt x="3197" y="31446"/>
                  </a:lnTo>
                  <a:cubicBezTo>
                    <a:pt x="1436" y="31446"/>
                    <a:pt x="0" y="32882"/>
                    <a:pt x="0" y="34643"/>
                  </a:cubicBezTo>
                  <a:cubicBezTo>
                    <a:pt x="0" y="36404"/>
                    <a:pt x="1436" y="37840"/>
                    <a:pt x="3197" y="37840"/>
                  </a:cubicBezTo>
                  <a:lnTo>
                    <a:pt x="27662" y="37840"/>
                  </a:lnTo>
                  <a:cubicBezTo>
                    <a:pt x="33273" y="37840"/>
                    <a:pt x="37839" y="33273"/>
                    <a:pt x="37839" y="27662"/>
                  </a:cubicBezTo>
                  <a:lnTo>
                    <a:pt x="37839" y="3197"/>
                  </a:lnTo>
                  <a:cubicBezTo>
                    <a:pt x="37839" y="1436"/>
                    <a:pt x="36404" y="1"/>
                    <a:pt x="346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74"/>
            <p:cNvSpPr/>
            <p:nvPr/>
          </p:nvSpPr>
          <p:spPr>
            <a:xfrm>
              <a:off x="1501325" y="550450"/>
              <a:ext cx="948450" cy="945175"/>
            </a:xfrm>
            <a:custGeom>
              <a:rect b="b" l="l" r="r" t="t"/>
              <a:pathLst>
                <a:path extrusionOk="0" h="37807" w="37938">
                  <a:moveTo>
                    <a:pt x="10243" y="0"/>
                  </a:moveTo>
                  <a:cubicBezTo>
                    <a:pt x="7535" y="0"/>
                    <a:pt x="4991" y="1044"/>
                    <a:pt x="3066" y="2969"/>
                  </a:cubicBezTo>
                  <a:cubicBezTo>
                    <a:pt x="1142" y="4861"/>
                    <a:pt x="65" y="7438"/>
                    <a:pt x="65" y="10145"/>
                  </a:cubicBezTo>
                  <a:lnTo>
                    <a:pt x="0" y="34610"/>
                  </a:lnTo>
                  <a:cubicBezTo>
                    <a:pt x="0" y="36372"/>
                    <a:pt x="1403" y="37807"/>
                    <a:pt x="3164" y="37807"/>
                  </a:cubicBezTo>
                  <a:lnTo>
                    <a:pt x="3197" y="37807"/>
                  </a:lnTo>
                  <a:cubicBezTo>
                    <a:pt x="4958" y="37807"/>
                    <a:pt x="6361" y="36372"/>
                    <a:pt x="6394" y="34610"/>
                  </a:cubicBezTo>
                  <a:lnTo>
                    <a:pt x="6459" y="10145"/>
                  </a:lnTo>
                  <a:cubicBezTo>
                    <a:pt x="6459" y="9134"/>
                    <a:pt x="6850" y="8188"/>
                    <a:pt x="7568" y="7503"/>
                  </a:cubicBezTo>
                  <a:cubicBezTo>
                    <a:pt x="8286" y="6785"/>
                    <a:pt x="9232" y="6394"/>
                    <a:pt x="10243" y="6394"/>
                  </a:cubicBezTo>
                  <a:lnTo>
                    <a:pt x="34708" y="6459"/>
                  </a:lnTo>
                  <a:cubicBezTo>
                    <a:pt x="36469" y="6459"/>
                    <a:pt x="37904" y="5024"/>
                    <a:pt x="37904" y="3262"/>
                  </a:cubicBezTo>
                  <a:cubicBezTo>
                    <a:pt x="37937" y="1501"/>
                    <a:pt x="36502" y="66"/>
                    <a:pt x="34740" y="66"/>
                  </a:cubicBezTo>
                  <a:lnTo>
                    <a:pt x="102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74"/>
            <p:cNvSpPr/>
            <p:nvPr/>
          </p:nvSpPr>
          <p:spPr>
            <a:xfrm>
              <a:off x="1502125" y="4198975"/>
              <a:ext cx="946000" cy="946000"/>
            </a:xfrm>
            <a:custGeom>
              <a:rect b="b" l="l" r="r" t="t"/>
              <a:pathLst>
                <a:path extrusionOk="0" h="37840" w="37840">
                  <a:moveTo>
                    <a:pt x="3198" y="1"/>
                  </a:moveTo>
                  <a:cubicBezTo>
                    <a:pt x="1436" y="1"/>
                    <a:pt x="1" y="1436"/>
                    <a:pt x="1" y="3197"/>
                  </a:cubicBezTo>
                  <a:lnTo>
                    <a:pt x="1" y="27662"/>
                  </a:lnTo>
                  <a:cubicBezTo>
                    <a:pt x="1" y="33273"/>
                    <a:pt x="4568" y="37840"/>
                    <a:pt x="10178" y="37840"/>
                  </a:cubicBezTo>
                  <a:lnTo>
                    <a:pt x="34643" y="37840"/>
                  </a:lnTo>
                  <a:cubicBezTo>
                    <a:pt x="36405" y="37840"/>
                    <a:pt x="37840" y="36404"/>
                    <a:pt x="37840" y="34643"/>
                  </a:cubicBezTo>
                  <a:cubicBezTo>
                    <a:pt x="37840" y="32882"/>
                    <a:pt x="36405" y="31446"/>
                    <a:pt x="34643" y="31446"/>
                  </a:cubicBezTo>
                  <a:lnTo>
                    <a:pt x="10178" y="31446"/>
                  </a:lnTo>
                  <a:cubicBezTo>
                    <a:pt x="8091" y="31446"/>
                    <a:pt x="6394" y="29750"/>
                    <a:pt x="6394" y="27662"/>
                  </a:cubicBezTo>
                  <a:lnTo>
                    <a:pt x="6394" y="3197"/>
                  </a:lnTo>
                  <a:cubicBezTo>
                    <a:pt x="6394" y="1436"/>
                    <a:pt x="4959" y="1"/>
                    <a:pt x="31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74"/>
            <p:cNvSpPr/>
            <p:nvPr/>
          </p:nvSpPr>
          <p:spPr>
            <a:xfrm>
              <a:off x="2378800" y="1445750"/>
              <a:ext cx="4035900" cy="3075375"/>
            </a:xfrm>
            <a:custGeom>
              <a:rect b="b" l="l" r="r" t="t"/>
              <a:pathLst>
                <a:path extrusionOk="0" h="123015" w="161436">
                  <a:moveTo>
                    <a:pt x="96199" y="0"/>
                  </a:moveTo>
                  <a:cubicBezTo>
                    <a:pt x="95023" y="0"/>
                    <a:pt x="93884" y="659"/>
                    <a:pt x="93326" y="1799"/>
                  </a:cubicBezTo>
                  <a:cubicBezTo>
                    <a:pt x="92543" y="3397"/>
                    <a:pt x="93228" y="5289"/>
                    <a:pt x="94793" y="6072"/>
                  </a:cubicBezTo>
                  <a:cubicBezTo>
                    <a:pt x="125260" y="20980"/>
                    <a:pt x="148290" y="49098"/>
                    <a:pt x="154031" y="56568"/>
                  </a:cubicBezTo>
                  <a:cubicBezTo>
                    <a:pt x="150508" y="61200"/>
                    <a:pt x="140429" y="73595"/>
                    <a:pt x="126206" y="85893"/>
                  </a:cubicBezTo>
                  <a:cubicBezTo>
                    <a:pt x="109929" y="99920"/>
                    <a:pt x="84681" y="116621"/>
                    <a:pt x="56857" y="116621"/>
                  </a:cubicBezTo>
                  <a:cubicBezTo>
                    <a:pt x="40318" y="116621"/>
                    <a:pt x="22997" y="110815"/>
                    <a:pt x="5382" y="99365"/>
                  </a:cubicBezTo>
                  <a:cubicBezTo>
                    <a:pt x="4841" y="99024"/>
                    <a:pt x="4240" y="98861"/>
                    <a:pt x="3648" y="98861"/>
                  </a:cubicBezTo>
                  <a:cubicBezTo>
                    <a:pt x="2597" y="98861"/>
                    <a:pt x="1572" y="99373"/>
                    <a:pt x="946" y="100311"/>
                  </a:cubicBezTo>
                  <a:cubicBezTo>
                    <a:pt x="0" y="101779"/>
                    <a:pt x="392" y="103769"/>
                    <a:pt x="1892" y="104747"/>
                  </a:cubicBezTo>
                  <a:cubicBezTo>
                    <a:pt x="20551" y="116882"/>
                    <a:pt x="39046" y="123015"/>
                    <a:pt x="56857" y="123015"/>
                  </a:cubicBezTo>
                  <a:cubicBezTo>
                    <a:pt x="70100" y="123015"/>
                    <a:pt x="83833" y="119589"/>
                    <a:pt x="97664" y="112805"/>
                  </a:cubicBezTo>
                  <a:cubicBezTo>
                    <a:pt x="108592" y="107455"/>
                    <a:pt x="119650" y="99985"/>
                    <a:pt x="130480" y="90623"/>
                  </a:cubicBezTo>
                  <a:cubicBezTo>
                    <a:pt x="148877" y="74737"/>
                    <a:pt x="160164" y="59112"/>
                    <a:pt x="160653" y="58427"/>
                  </a:cubicBezTo>
                  <a:cubicBezTo>
                    <a:pt x="161436" y="57318"/>
                    <a:pt x="161436" y="55818"/>
                    <a:pt x="160653" y="54709"/>
                  </a:cubicBezTo>
                  <a:cubicBezTo>
                    <a:pt x="159577" y="53241"/>
                    <a:pt x="134264" y="18272"/>
                    <a:pt x="97599" y="331"/>
                  </a:cubicBezTo>
                  <a:cubicBezTo>
                    <a:pt x="97150" y="107"/>
                    <a:pt x="96671" y="0"/>
                    <a:pt x="96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74"/>
            <p:cNvSpPr/>
            <p:nvPr/>
          </p:nvSpPr>
          <p:spPr>
            <a:xfrm>
              <a:off x="1185725" y="1199575"/>
              <a:ext cx="3350900" cy="2669975"/>
            </a:xfrm>
            <a:custGeom>
              <a:rect b="b" l="l" r="r" t="t"/>
              <a:pathLst>
                <a:path extrusionOk="0" h="106799" w="134036">
                  <a:moveTo>
                    <a:pt x="104580" y="1"/>
                  </a:moveTo>
                  <a:cubicBezTo>
                    <a:pt x="91336" y="1"/>
                    <a:pt x="77603" y="3426"/>
                    <a:pt x="63772" y="10211"/>
                  </a:cubicBezTo>
                  <a:cubicBezTo>
                    <a:pt x="52844" y="15560"/>
                    <a:pt x="41786" y="23030"/>
                    <a:pt x="30957" y="32392"/>
                  </a:cubicBezTo>
                  <a:cubicBezTo>
                    <a:pt x="12559" y="48278"/>
                    <a:pt x="1272" y="63903"/>
                    <a:pt x="783" y="64556"/>
                  </a:cubicBezTo>
                  <a:cubicBezTo>
                    <a:pt x="0" y="65697"/>
                    <a:pt x="0" y="67165"/>
                    <a:pt x="783" y="68274"/>
                  </a:cubicBezTo>
                  <a:cubicBezTo>
                    <a:pt x="1370" y="69122"/>
                    <a:pt x="15462" y="88629"/>
                    <a:pt x="37807" y="106146"/>
                  </a:cubicBezTo>
                  <a:cubicBezTo>
                    <a:pt x="38394" y="106603"/>
                    <a:pt x="39112" y="106798"/>
                    <a:pt x="39797" y="106798"/>
                  </a:cubicBezTo>
                  <a:cubicBezTo>
                    <a:pt x="40742" y="106798"/>
                    <a:pt x="41688" y="106407"/>
                    <a:pt x="42308" y="105591"/>
                  </a:cubicBezTo>
                  <a:cubicBezTo>
                    <a:pt x="43385" y="104189"/>
                    <a:pt x="43156" y="102199"/>
                    <a:pt x="41754" y="101090"/>
                  </a:cubicBezTo>
                  <a:cubicBezTo>
                    <a:pt x="24074" y="87226"/>
                    <a:pt x="11450" y="71699"/>
                    <a:pt x="7372" y="66415"/>
                  </a:cubicBezTo>
                  <a:cubicBezTo>
                    <a:pt x="10928" y="61848"/>
                    <a:pt x="20910" y="49485"/>
                    <a:pt x="35132" y="37220"/>
                  </a:cubicBezTo>
                  <a:cubicBezTo>
                    <a:pt x="51409" y="23161"/>
                    <a:pt x="76690" y="6394"/>
                    <a:pt x="104580" y="6394"/>
                  </a:cubicBezTo>
                  <a:cubicBezTo>
                    <a:pt x="112669" y="6394"/>
                    <a:pt x="121020" y="7797"/>
                    <a:pt x="129469" y="10570"/>
                  </a:cubicBezTo>
                  <a:cubicBezTo>
                    <a:pt x="129798" y="10679"/>
                    <a:pt x="130133" y="10732"/>
                    <a:pt x="130462" y="10732"/>
                  </a:cubicBezTo>
                  <a:cubicBezTo>
                    <a:pt x="131794" y="10732"/>
                    <a:pt x="133036" y="9875"/>
                    <a:pt x="133481" y="8515"/>
                  </a:cubicBezTo>
                  <a:cubicBezTo>
                    <a:pt x="134035" y="6851"/>
                    <a:pt x="133122" y="5057"/>
                    <a:pt x="131458" y="4502"/>
                  </a:cubicBezTo>
                  <a:cubicBezTo>
                    <a:pt x="122390" y="1501"/>
                    <a:pt x="113354" y="1"/>
                    <a:pt x="104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74"/>
            <p:cNvSpPr/>
            <p:nvPr/>
          </p:nvSpPr>
          <p:spPr>
            <a:xfrm>
              <a:off x="2440775" y="1501325"/>
              <a:ext cx="2718875" cy="2718075"/>
            </a:xfrm>
            <a:custGeom>
              <a:rect b="b" l="l" r="r" t="t"/>
              <a:pathLst>
                <a:path extrusionOk="0" h="108723" w="108755">
                  <a:moveTo>
                    <a:pt x="54378" y="0"/>
                  </a:moveTo>
                  <a:cubicBezTo>
                    <a:pt x="24400" y="0"/>
                    <a:pt x="0" y="24367"/>
                    <a:pt x="0" y="54345"/>
                  </a:cubicBezTo>
                  <a:cubicBezTo>
                    <a:pt x="0" y="84323"/>
                    <a:pt x="24400" y="108722"/>
                    <a:pt x="54378" y="108722"/>
                  </a:cubicBezTo>
                  <a:cubicBezTo>
                    <a:pt x="84355" y="108722"/>
                    <a:pt x="108755" y="84323"/>
                    <a:pt x="108755" y="54345"/>
                  </a:cubicBezTo>
                  <a:cubicBezTo>
                    <a:pt x="108755" y="43678"/>
                    <a:pt x="105656" y="33370"/>
                    <a:pt x="99817" y="24498"/>
                  </a:cubicBezTo>
                  <a:cubicBezTo>
                    <a:pt x="99197" y="23567"/>
                    <a:pt x="98170" y="23056"/>
                    <a:pt x="97127" y="23056"/>
                  </a:cubicBezTo>
                  <a:cubicBezTo>
                    <a:pt x="96525" y="23056"/>
                    <a:pt x="95918" y="23226"/>
                    <a:pt x="95381" y="23584"/>
                  </a:cubicBezTo>
                  <a:cubicBezTo>
                    <a:pt x="93913" y="24563"/>
                    <a:pt x="93489" y="26520"/>
                    <a:pt x="94467" y="28021"/>
                  </a:cubicBezTo>
                  <a:cubicBezTo>
                    <a:pt x="99621" y="35817"/>
                    <a:pt x="102361" y="44950"/>
                    <a:pt x="102361" y="54345"/>
                  </a:cubicBezTo>
                  <a:cubicBezTo>
                    <a:pt x="102361" y="80800"/>
                    <a:pt x="80832" y="102329"/>
                    <a:pt x="54378" y="102329"/>
                  </a:cubicBezTo>
                  <a:cubicBezTo>
                    <a:pt x="27923" y="102329"/>
                    <a:pt x="6394" y="80800"/>
                    <a:pt x="6394" y="54345"/>
                  </a:cubicBezTo>
                  <a:cubicBezTo>
                    <a:pt x="6394" y="27923"/>
                    <a:pt x="27923" y="6394"/>
                    <a:pt x="54378" y="6394"/>
                  </a:cubicBezTo>
                  <a:cubicBezTo>
                    <a:pt x="66480" y="6394"/>
                    <a:pt x="78027" y="10895"/>
                    <a:pt x="86900" y="19083"/>
                  </a:cubicBezTo>
                  <a:cubicBezTo>
                    <a:pt x="87522" y="19659"/>
                    <a:pt x="88309" y="19945"/>
                    <a:pt x="89092" y="19945"/>
                  </a:cubicBezTo>
                  <a:cubicBezTo>
                    <a:pt x="89949" y="19945"/>
                    <a:pt x="90803" y="19602"/>
                    <a:pt x="91434" y="18920"/>
                  </a:cubicBezTo>
                  <a:cubicBezTo>
                    <a:pt x="92608" y="17615"/>
                    <a:pt x="92543" y="15592"/>
                    <a:pt x="91238" y="14418"/>
                  </a:cubicBezTo>
                  <a:cubicBezTo>
                    <a:pt x="81191" y="5121"/>
                    <a:pt x="68078" y="0"/>
                    <a:pt x="54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74"/>
            <p:cNvSpPr/>
            <p:nvPr/>
          </p:nvSpPr>
          <p:spPr>
            <a:xfrm>
              <a:off x="3073600" y="2133325"/>
              <a:ext cx="1453225" cy="1454050"/>
            </a:xfrm>
            <a:custGeom>
              <a:rect b="b" l="l" r="r" t="t"/>
              <a:pathLst>
                <a:path extrusionOk="0" h="58162" w="58129">
                  <a:moveTo>
                    <a:pt x="29065" y="6394"/>
                  </a:moveTo>
                  <a:cubicBezTo>
                    <a:pt x="41558" y="6394"/>
                    <a:pt x="51735" y="16571"/>
                    <a:pt x="51735" y="29065"/>
                  </a:cubicBezTo>
                  <a:cubicBezTo>
                    <a:pt x="51735" y="41591"/>
                    <a:pt x="41558" y="51768"/>
                    <a:pt x="29065" y="51768"/>
                  </a:cubicBezTo>
                  <a:cubicBezTo>
                    <a:pt x="16571" y="51768"/>
                    <a:pt x="6394" y="41591"/>
                    <a:pt x="6394" y="29065"/>
                  </a:cubicBezTo>
                  <a:cubicBezTo>
                    <a:pt x="6394" y="16571"/>
                    <a:pt x="16571" y="6394"/>
                    <a:pt x="29065" y="6394"/>
                  </a:cubicBezTo>
                  <a:close/>
                  <a:moveTo>
                    <a:pt x="29065" y="1"/>
                  </a:moveTo>
                  <a:cubicBezTo>
                    <a:pt x="13048" y="1"/>
                    <a:pt x="0" y="13049"/>
                    <a:pt x="0" y="29065"/>
                  </a:cubicBezTo>
                  <a:cubicBezTo>
                    <a:pt x="0" y="45114"/>
                    <a:pt x="13048" y="58162"/>
                    <a:pt x="29065" y="58162"/>
                  </a:cubicBezTo>
                  <a:cubicBezTo>
                    <a:pt x="45081" y="58162"/>
                    <a:pt x="58129" y="45114"/>
                    <a:pt x="58129" y="29065"/>
                  </a:cubicBezTo>
                  <a:cubicBezTo>
                    <a:pt x="58129" y="13049"/>
                    <a:pt x="45081" y="1"/>
                    <a:pt x="29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74"/>
            <p:cNvSpPr/>
            <p:nvPr/>
          </p:nvSpPr>
          <p:spPr>
            <a:xfrm>
              <a:off x="3786350" y="550450"/>
              <a:ext cx="159850" cy="307475"/>
            </a:xfrm>
            <a:custGeom>
              <a:rect b="b" l="l" r="r" t="t"/>
              <a:pathLst>
                <a:path extrusionOk="0" h="12299" w="6394">
                  <a:moveTo>
                    <a:pt x="3197" y="0"/>
                  </a:moveTo>
                  <a:cubicBezTo>
                    <a:pt x="1435" y="0"/>
                    <a:pt x="0" y="1436"/>
                    <a:pt x="0" y="3197"/>
                  </a:cubicBezTo>
                  <a:lnTo>
                    <a:pt x="0" y="9101"/>
                  </a:lnTo>
                  <a:cubicBezTo>
                    <a:pt x="0" y="10863"/>
                    <a:pt x="1435" y="12298"/>
                    <a:pt x="3197" y="12298"/>
                  </a:cubicBezTo>
                  <a:cubicBezTo>
                    <a:pt x="4991" y="12298"/>
                    <a:pt x="6394" y="10863"/>
                    <a:pt x="6394" y="9101"/>
                  </a:cubicBezTo>
                  <a:lnTo>
                    <a:pt x="6394" y="3197"/>
                  </a:lnTo>
                  <a:cubicBezTo>
                    <a:pt x="6394" y="1436"/>
                    <a:pt x="4958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74"/>
            <p:cNvSpPr/>
            <p:nvPr/>
          </p:nvSpPr>
          <p:spPr>
            <a:xfrm>
              <a:off x="4239750" y="736750"/>
              <a:ext cx="301775" cy="277750"/>
            </a:xfrm>
            <a:custGeom>
              <a:rect b="b" l="l" r="r" t="t"/>
              <a:pathLst>
                <a:path extrusionOk="0" h="11110" w="12071">
                  <a:moveTo>
                    <a:pt x="8540" y="1"/>
                  </a:moveTo>
                  <a:cubicBezTo>
                    <a:pt x="7757" y="1"/>
                    <a:pt x="6973" y="287"/>
                    <a:pt x="6362" y="866"/>
                  </a:cubicBezTo>
                  <a:lnTo>
                    <a:pt x="1338" y="5596"/>
                  </a:lnTo>
                  <a:cubicBezTo>
                    <a:pt x="66" y="6803"/>
                    <a:pt x="1" y="8826"/>
                    <a:pt x="1208" y="10131"/>
                  </a:cubicBezTo>
                  <a:cubicBezTo>
                    <a:pt x="1827" y="10783"/>
                    <a:pt x="2676" y="11109"/>
                    <a:pt x="3524" y="11109"/>
                  </a:cubicBezTo>
                  <a:cubicBezTo>
                    <a:pt x="4339" y="11109"/>
                    <a:pt x="5122" y="10816"/>
                    <a:pt x="5742" y="10261"/>
                  </a:cubicBezTo>
                  <a:lnTo>
                    <a:pt x="10733" y="5498"/>
                  </a:lnTo>
                  <a:cubicBezTo>
                    <a:pt x="12037" y="4292"/>
                    <a:pt x="12070" y="2269"/>
                    <a:pt x="10863" y="997"/>
                  </a:cubicBezTo>
                  <a:cubicBezTo>
                    <a:pt x="10236" y="336"/>
                    <a:pt x="9388" y="1"/>
                    <a:pt x="8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74"/>
            <p:cNvSpPr/>
            <p:nvPr/>
          </p:nvSpPr>
          <p:spPr>
            <a:xfrm>
              <a:off x="3202450" y="738475"/>
              <a:ext cx="302575" cy="277650"/>
            </a:xfrm>
            <a:custGeom>
              <a:rect b="b" l="l" r="r" t="t"/>
              <a:pathLst>
                <a:path extrusionOk="0" h="11106" w="12103">
                  <a:moveTo>
                    <a:pt x="3545" y="0"/>
                  </a:moveTo>
                  <a:cubicBezTo>
                    <a:pt x="2692" y="0"/>
                    <a:pt x="1838" y="344"/>
                    <a:pt x="1207" y="1026"/>
                  </a:cubicBezTo>
                  <a:cubicBezTo>
                    <a:pt x="0" y="2298"/>
                    <a:pt x="65" y="4320"/>
                    <a:pt x="1338" y="5527"/>
                  </a:cubicBezTo>
                  <a:lnTo>
                    <a:pt x="6361" y="10257"/>
                  </a:lnTo>
                  <a:cubicBezTo>
                    <a:pt x="6981" y="10844"/>
                    <a:pt x="7764" y="11105"/>
                    <a:pt x="8547" y="11105"/>
                  </a:cubicBezTo>
                  <a:cubicBezTo>
                    <a:pt x="9395" y="11105"/>
                    <a:pt x="10243" y="10779"/>
                    <a:pt x="10895" y="10094"/>
                  </a:cubicBezTo>
                  <a:cubicBezTo>
                    <a:pt x="12102" y="8822"/>
                    <a:pt x="12037" y="6800"/>
                    <a:pt x="10732" y="5593"/>
                  </a:cubicBezTo>
                  <a:lnTo>
                    <a:pt x="5709" y="863"/>
                  </a:lnTo>
                  <a:cubicBezTo>
                    <a:pt x="5102" y="287"/>
                    <a:pt x="4323" y="0"/>
                    <a:pt x="3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74"/>
            <p:cNvSpPr/>
            <p:nvPr/>
          </p:nvSpPr>
          <p:spPr>
            <a:xfrm>
              <a:off x="3786350" y="4837525"/>
              <a:ext cx="159850" cy="307450"/>
            </a:xfrm>
            <a:custGeom>
              <a:rect b="b" l="l" r="r" t="t"/>
              <a:pathLst>
                <a:path extrusionOk="0" h="12298" w="6394">
                  <a:moveTo>
                    <a:pt x="3197" y="0"/>
                  </a:moveTo>
                  <a:cubicBezTo>
                    <a:pt x="1435" y="0"/>
                    <a:pt x="0" y="1435"/>
                    <a:pt x="0" y="3197"/>
                  </a:cubicBezTo>
                  <a:lnTo>
                    <a:pt x="0" y="9101"/>
                  </a:lnTo>
                  <a:cubicBezTo>
                    <a:pt x="0" y="10862"/>
                    <a:pt x="1435" y="12298"/>
                    <a:pt x="3197" y="12298"/>
                  </a:cubicBezTo>
                  <a:cubicBezTo>
                    <a:pt x="4958" y="12298"/>
                    <a:pt x="6394" y="10862"/>
                    <a:pt x="6394" y="9101"/>
                  </a:cubicBezTo>
                  <a:lnTo>
                    <a:pt x="6394" y="3197"/>
                  </a:lnTo>
                  <a:cubicBezTo>
                    <a:pt x="6394" y="1435"/>
                    <a:pt x="4991" y="0"/>
                    <a:pt x="31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74"/>
            <p:cNvSpPr/>
            <p:nvPr/>
          </p:nvSpPr>
          <p:spPr>
            <a:xfrm>
              <a:off x="4239750" y="4681025"/>
              <a:ext cx="301775" cy="278025"/>
            </a:xfrm>
            <a:custGeom>
              <a:rect b="b" l="l" r="r" t="t"/>
              <a:pathLst>
                <a:path extrusionOk="0" h="11121" w="12071">
                  <a:moveTo>
                    <a:pt x="3518" y="0"/>
                  </a:moveTo>
                  <a:cubicBezTo>
                    <a:pt x="2671" y="0"/>
                    <a:pt x="1831" y="335"/>
                    <a:pt x="1208" y="1008"/>
                  </a:cubicBezTo>
                  <a:cubicBezTo>
                    <a:pt x="1" y="2280"/>
                    <a:pt x="66" y="4303"/>
                    <a:pt x="1338" y="5510"/>
                  </a:cubicBezTo>
                  <a:lnTo>
                    <a:pt x="6362" y="10240"/>
                  </a:lnTo>
                  <a:cubicBezTo>
                    <a:pt x="6981" y="10827"/>
                    <a:pt x="7764" y="11120"/>
                    <a:pt x="8547" y="11120"/>
                  </a:cubicBezTo>
                  <a:cubicBezTo>
                    <a:pt x="9395" y="11120"/>
                    <a:pt x="10243" y="10794"/>
                    <a:pt x="10863" y="10109"/>
                  </a:cubicBezTo>
                  <a:cubicBezTo>
                    <a:pt x="12070" y="8837"/>
                    <a:pt x="12037" y="6815"/>
                    <a:pt x="10733" y="5608"/>
                  </a:cubicBezTo>
                  <a:lnTo>
                    <a:pt x="5742" y="878"/>
                  </a:lnTo>
                  <a:cubicBezTo>
                    <a:pt x="5111" y="294"/>
                    <a:pt x="4311" y="0"/>
                    <a:pt x="35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74"/>
            <p:cNvSpPr/>
            <p:nvPr/>
          </p:nvSpPr>
          <p:spPr>
            <a:xfrm>
              <a:off x="3202450" y="4679675"/>
              <a:ext cx="302575" cy="277750"/>
            </a:xfrm>
            <a:custGeom>
              <a:rect b="b" l="l" r="r" t="t"/>
              <a:pathLst>
                <a:path extrusionOk="0" h="11110" w="12103">
                  <a:moveTo>
                    <a:pt x="8568" y="1"/>
                  </a:moveTo>
                  <a:cubicBezTo>
                    <a:pt x="7780" y="1"/>
                    <a:pt x="6988" y="287"/>
                    <a:pt x="6361" y="867"/>
                  </a:cubicBezTo>
                  <a:lnTo>
                    <a:pt x="1338" y="5564"/>
                  </a:lnTo>
                  <a:cubicBezTo>
                    <a:pt x="65" y="6771"/>
                    <a:pt x="0" y="8793"/>
                    <a:pt x="1207" y="10098"/>
                  </a:cubicBezTo>
                  <a:cubicBezTo>
                    <a:pt x="1827" y="10750"/>
                    <a:pt x="2675" y="11109"/>
                    <a:pt x="3523" y="11109"/>
                  </a:cubicBezTo>
                  <a:cubicBezTo>
                    <a:pt x="4306" y="11109"/>
                    <a:pt x="5089" y="10816"/>
                    <a:pt x="5709" y="10228"/>
                  </a:cubicBezTo>
                  <a:lnTo>
                    <a:pt x="10732" y="5499"/>
                  </a:lnTo>
                  <a:cubicBezTo>
                    <a:pt x="12037" y="4292"/>
                    <a:pt x="12102" y="2269"/>
                    <a:pt x="10895" y="997"/>
                  </a:cubicBezTo>
                  <a:cubicBezTo>
                    <a:pt x="10268" y="336"/>
                    <a:pt x="9420" y="1"/>
                    <a:pt x="8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5"/>
          <p:cNvSpPr txBox="1"/>
          <p:nvPr>
            <p:ph type="title"/>
          </p:nvPr>
        </p:nvSpPr>
        <p:spPr>
          <a:xfrm>
            <a:off x="391875" y="710100"/>
            <a:ext cx="78954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readability metrics</a:t>
            </a:r>
            <a:endParaRPr/>
          </a:p>
        </p:txBody>
      </p:sp>
      <p:sp>
        <p:nvSpPr>
          <p:cNvPr id="650" name="Google Shape;650;p75"/>
          <p:cNvSpPr txBox="1"/>
          <p:nvPr>
            <p:ph idx="1" type="subTitle"/>
          </p:nvPr>
        </p:nvSpPr>
        <p:spPr>
          <a:xfrm>
            <a:off x="391875" y="1648800"/>
            <a:ext cx="7621800" cy="27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Flesch-Kincaid Grade Level</a:t>
            </a:r>
            <a:endParaRPr b="1"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/>
              <a:t>→ </a:t>
            </a:r>
            <a:r>
              <a:rPr lang="en" sz="1850"/>
              <a:t>Sentence length + word length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/>
              <a:t>→ </a:t>
            </a:r>
            <a:r>
              <a:rPr lang="en" sz="1850"/>
              <a:t>Higher score = needs more education 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      to understand</a:t>
            </a:r>
            <a:endParaRPr b="1"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Automated Readability Index (ARI)</a:t>
            </a:r>
            <a:endParaRPr b="1"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/>
              <a:t>→</a:t>
            </a:r>
            <a:r>
              <a:rPr lang="en" sz="1850"/>
              <a:t> Character count per word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→ Measures visual density of text</a:t>
            </a:r>
            <a:endParaRPr b="1"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Dale-Chall Formula</a:t>
            </a:r>
            <a:endParaRPr b="1"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/>
              <a:t>→ </a:t>
            </a:r>
            <a:r>
              <a:rPr lang="en" sz="1850"/>
              <a:t>Counts unfamiliar vocabulary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→ Measures jargon density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6"/>
          <p:cNvSpPr txBox="1"/>
          <p:nvPr>
            <p:ph idx="1" type="subTitle"/>
          </p:nvPr>
        </p:nvSpPr>
        <p:spPr>
          <a:xfrm>
            <a:off x="263525" y="0"/>
            <a:ext cx="7621800" cy="30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Abstract: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/>
              <a:t>In an industrial maintenance context, degradation diagnosis is the problem of determining the current level of degradation of operating machines based on measurements. With the emergence of Machine Learning techniques, such a problem can now be solved by training a degradation model offline and by using it online. While such models are more and more accurate and performant, they are often black-bo…</a:t>
            </a:r>
            <a:endParaRPr b="1" sz="1850">
              <a:solidFill>
                <a:srgbClr val="FF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FF0000"/>
                </a:solidFill>
              </a:rPr>
              <a:t>- ARI: 19.0 </a:t>
            </a:r>
            <a:r>
              <a:rPr lang="en" sz="1850">
                <a:solidFill>
                  <a:srgbClr val="FF0000"/>
                </a:solidFill>
              </a:rPr>
              <a:t>(dense)</a:t>
            </a:r>
            <a:r>
              <a:rPr b="1" lang="en" sz="1850">
                <a:solidFill>
                  <a:srgbClr val="FF0000"/>
                </a:solidFill>
              </a:rPr>
              <a:t> </a:t>
            </a:r>
            <a:endParaRPr b="1" sz="1850">
              <a:solidFill>
                <a:srgbClr val="FF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FF0000"/>
                </a:solidFill>
              </a:rPr>
              <a:t>- FKGL: 17.1 </a:t>
            </a:r>
            <a:r>
              <a:rPr lang="en" sz="1850">
                <a:solidFill>
                  <a:srgbClr val="FF0000"/>
                </a:solidFill>
              </a:rPr>
              <a:t>(requires Master's degree)</a:t>
            </a:r>
            <a:r>
              <a:rPr b="1" lang="en" sz="1850">
                <a:solidFill>
                  <a:srgbClr val="FF0000"/>
                </a:solidFill>
              </a:rPr>
              <a:t> </a:t>
            </a:r>
            <a:endParaRPr b="1" sz="1850">
              <a:solidFill>
                <a:srgbClr val="FF0000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FF0000"/>
                </a:solidFill>
              </a:rPr>
              <a:t>- Dale-Chall: 12.3 </a:t>
            </a:r>
            <a:r>
              <a:rPr lang="en" sz="1850">
                <a:solidFill>
                  <a:srgbClr val="FF0000"/>
                </a:solidFill>
              </a:rPr>
              <a:t>(high jargon density)</a:t>
            </a:r>
            <a:endParaRPr sz="185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7"/>
          <p:cNvSpPr txBox="1"/>
          <p:nvPr>
            <p:ph type="title"/>
          </p:nvPr>
        </p:nvSpPr>
        <p:spPr>
          <a:xfrm>
            <a:off x="391875" y="710100"/>
            <a:ext cx="78954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Three-step analysis</a:t>
            </a:r>
            <a:endParaRPr/>
          </a:p>
        </p:txBody>
      </p:sp>
      <p:sp>
        <p:nvSpPr>
          <p:cNvPr id="661" name="Google Shape;661;p77"/>
          <p:cNvSpPr txBox="1"/>
          <p:nvPr>
            <p:ph idx="1" type="subTitle"/>
          </p:nvPr>
        </p:nvSpPr>
        <p:spPr>
          <a:xfrm>
            <a:off x="391875" y="1513800"/>
            <a:ext cx="7621800" cy="30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Visual trends: </a:t>
            </a:r>
            <a:r>
              <a:rPr lang="en" sz="1850"/>
              <a:t>Plot average scores over time</a:t>
            </a:r>
            <a:endParaRPr sz="18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Gradient</a:t>
            </a:r>
            <a:r>
              <a:rPr b="1" lang="en" sz="1850"/>
              <a:t> </a:t>
            </a:r>
            <a:r>
              <a:rPr b="1" lang="en" sz="1850"/>
              <a:t>analysis</a:t>
            </a:r>
            <a:r>
              <a:rPr b="1" lang="en" sz="1850"/>
              <a:t> (Segmented regression): </a:t>
            </a:r>
            <a:endParaRPr b="1"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Calculate slope before vs. after 2023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   → </a:t>
            </a:r>
            <a:r>
              <a:rPr lang="en" sz="1850"/>
              <a:t>m_pre : 2015-2023 m_post : 2023-2025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Acceleration analysis: </a:t>
            </a:r>
            <a:r>
              <a:rPr lang="en" sz="1850"/>
              <a:t>Find exact inflection point. 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Acceleration Δm = m_post - m_pre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/>
              <a:t>   → When did the shift happen?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78" title="readability_trends_COMPUTER SCIENCE_2015_2025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710946"/>
            <a:ext cx="7315200" cy="427024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78"/>
          <p:cNvSpPr txBox="1"/>
          <p:nvPr>
            <p:ph type="title"/>
          </p:nvPr>
        </p:nvSpPr>
        <p:spPr>
          <a:xfrm>
            <a:off x="713225" y="19368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Readability Trends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79" title="readability_gradients_COMPUTER_SCIENCE_2015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55014"/>
            <a:ext cx="8229600" cy="2633472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7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analysis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Google Shape;678;p80" title="readability_acceleration_COMPUTER_SCIENCE_2015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710452"/>
            <a:ext cx="7315200" cy="4271236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80"/>
          <p:cNvSpPr txBox="1"/>
          <p:nvPr>
            <p:ph type="title"/>
          </p:nvPr>
        </p:nvSpPr>
        <p:spPr>
          <a:xfrm>
            <a:off x="713225" y="19368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Acceleration analysis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1"/>
          <p:cNvSpPr txBox="1"/>
          <p:nvPr>
            <p:ph type="title"/>
          </p:nvPr>
        </p:nvSpPr>
        <p:spPr>
          <a:xfrm>
            <a:off x="391875" y="710100"/>
            <a:ext cx="78954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 - Computer Science Domain</a:t>
            </a:r>
            <a:endParaRPr/>
          </a:p>
        </p:txBody>
      </p:sp>
      <p:sp>
        <p:nvSpPr>
          <p:cNvPr id="685" name="Google Shape;685;p81"/>
          <p:cNvSpPr txBox="1"/>
          <p:nvPr>
            <p:ph idx="1" type="subTitle"/>
          </p:nvPr>
        </p:nvSpPr>
        <p:spPr>
          <a:xfrm>
            <a:off x="391875" y="1648800"/>
            <a:ext cx="7621800" cy="27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■"/>
            </a:pPr>
            <a:r>
              <a:rPr b="1" lang="en" sz="1450"/>
              <a:t>Visual Evidence</a:t>
            </a:r>
            <a:r>
              <a:rPr lang="en" sz="1450"/>
              <a:t>: A consistent spike appears across all language metrics.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■"/>
            </a:pPr>
            <a:r>
              <a:rPr b="1" lang="en" sz="1450"/>
              <a:t>Confirmation</a:t>
            </a:r>
            <a:r>
              <a:rPr lang="en" sz="1450"/>
              <a:t>: Segmented linear regression confirms the surge is statistically significant. The rate of complexity growth more than doubled comparing pre-2022 to post-2022.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■"/>
            </a:pPr>
            <a:r>
              <a:rPr b="1" lang="en" sz="1450"/>
              <a:t>Inflection Point</a:t>
            </a:r>
            <a:r>
              <a:rPr lang="en" sz="1450"/>
              <a:t>: Acceleration analysis pinpoints 2023 as the year of maximum change.</a:t>
            </a:r>
            <a:endParaRPr sz="14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/>
          </a:p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SzPts val="1450"/>
              <a:buChar char="■"/>
            </a:pPr>
            <a:r>
              <a:rPr b="1" lang="en" sz="1450"/>
              <a:t>Conclusion</a:t>
            </a:r>
            <a:r>
              <a:rPr lang="en" sz="1450"/>
              <a:t>: The Computer Science domain exhibits a statistically significant decline in readability starting in 2023. This trend aligns with the widespread availability of LLMs.</a:t>
            </a:r>
            <a:endParaRPr sz="14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82" title="readability_trends_MEDICINE_2015_2025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711698"/>
            <a:ext cx="7315200" cy="4268744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82"/>
          <p:cNvSpPr txBox="1"/>
          <p:nvPr>
            <p:ph type="title"/>
          </p:nvPr>
        </p:nvSpPr>
        <p:spPr>
          <a:xfrm>
            <a:off x="713225" y="19368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Readability Trends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83" title="readability_gradients_MEDICINE_2015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59586"/>
            <a:ext cx="8229600" cy="2624328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8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analysis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84" title="readability_acceleration_MEDICINE_2015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710452"/>
            <a:ext cx="7315200" cy="4271236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84"/>
          <p:cNvSpPr txBox="1"/>
          <p:nvPr>
            <p:ph type="title"/>
          </p:nvPr>
        </p:nvSpPr>
        <p:spPr>
          <a:xfrm>
            <a:off x="713225" y="19368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Acceleration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85"/>
          <p:cNvSpPr txBox="1"/>
          <p:nvPr>
            <p:ph type="title"/>
          </p:nvPr>
        </p:nvSpPr>
        <p:spPr>
          <a:xfrm>
            <a:off x="391875" y="710100"/>
            <a:ext cx="78954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 - Medicine Domain</a:t>
            </a:r>
            <a:endParaRPr/>
          </a:p>
        </p:txBody>
      </p:sp>
      <p:sp>
        <p:nvSpPr>
          <p:cNvPr id="709" name="Google Shape;709;p85"/>
          <p:cNvSpPr txBox="1"/>
          <p:nvPr>
            <p:ph idx="1" type="subTitle"/>
          </p:nvPr>
        </p:nvSpPr>
        <p:spPr>
          <a:xfrm>
            <a:off x="391875" y="1648800"/>
            <a:ext cx="7621800" cy="27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■"/>
            </a:pPr>
            <a:r>
              <a:rPr lang="en" sz="1750"/>
              <a:t>High year-to-year fluctuation between 2015 and 2022.</a:t>
            </a:r>
            <a:endParaRPr sz="17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■"/>
            </a:pPr>
            <a:r>
              <a:rPr lang="en" sz="1750"/>
              <a:t>All readability metrics converge on a uniform upward spike of increased complexity from 2023 to 2025. Acceleration analysis confirms the peak rate of change occurred in 2023.</a:t>
            </a:r>
            <a:endParaRPr sz="17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/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Char char="■"/>
            </a:pPr>
            <a:r>
              <a:rPr b="1" lang="en" sz="1750"/>
              <a:t>Conclusion</a:t>
            </a:r>
            <a:r>
              <a:rPr lang="en" sz="1750"/>
              <a:t>: Evidence that correlation between decreased readability and the post-LLM era is a cross-disciplinary phenomenon.</a:t>
            </a:r>
            <a:endParaRPr sz="17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4" name="Google Shape;714;p86" title="readability_trends_BUSINESS_2015_2025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711687"/>
            <a:ext cx="7315200" cy="4268766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86"/>
          <p:cNvSpPr txBox="1"/>
          <p:nvPr>
            <p:ph type="title"/>
          </p:nvPr>
        </p:nvSpPr>
        <p:spPr>
          <a:xfrm>
            <a:off x="713225" y="19368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Readability Trends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87" title="readability_gradients_BUSINESS_2015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261142"/>
            <a:ext cx="8229600" cy="2621217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8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Gradient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88" title="readability_acceleration_BUSINESS_2015_20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724502"/>
            <a:ext cx="7315201" cy="4243136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88"/>
          <p:cNvSpPr txBox="1"/>
          <p:nvPr>
            <p:ph type="title"/>
          </p:nvPr>
        </p:nvSpPr>
        <p:spPr>
          <a:xfrm>
            <a:off x="713225" y="19368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Acceleration analysis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89"/>
          <p:cNvSpPr txBox="1"/>
          <p:nvPr>
            <p:ph type="title"/>
          </p:nvPr>
        </p:nvSpPr>
        <p:spPr>
          <a:xfrm>
            <a:off x="391875" y="710100"/>
            <a:ext cx="78954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 - Business Domain</a:t>
            </a:r>
            <a:endParaRPr/>
          </a:p>
        </p:txBody>
      </p:sp>
      <p:sp>
        <p:nvSpPr>
          <p:cNvPr id="733" name="Google Shape;733;p89"/>
          <p:cNvSpPr txBox="1"/>
          <p:nvPr>
            <p:ph idx="1" type="subTitle"/>
          </p:nvPr>
        </p:nvSpPr>
        <p:spPr>
          <a:xfrm>
            <a:off x="391875" y="1648800"/>
            <a:ext cx="7621800" cy="27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2023 Outlier</a:t>
            </a:r>
            <a:r>
              <a:rPr lang="en" sz="1850"/>
              <a:t>: The data shows a data point high uncertainty in 2023, characterized by wide error bars which needs further investigation.</a:t>
            </a:r>
            <a:endParaRPr sz="18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Char char="■"/>
            </a:pPr>
            <a:r>
              <a:rPr b="1" lang="en" sz="1850"/>
              <a:t>Baseline Growth and Accelerated Decline</a:t>
            </a:r>
            <a:r>
              <a:rPr lang="en" sz="1850"/>
              <a:t>: </a:t>
            </a:r>
            <a:r>
              <a:rPr lang="en" sz="1850"/>
              <a:t>Business showed a steady, slow increase in complexity but p</a:t>
            </a:r>
            <a:r>
              <a:rPr lang="en" sz="1850"/>
              <a:t>ost-2023, the gradient steepens significantly. </a:t>
            </a:r>
            <a:endParaRPr sz="18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0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739" name="Google Shape;739;p90"/>
          <p:cNvSpPr txBox="1"/>
          <p:nvPr>
            <p:ph idx="1" type="subTitle"/>
          </p:nvPr>
        </p:nvSpPr>
        <p:spPr>
          <a:xfrm>
            <a:off x="948325" y="2061254"/>
            <a:ext cx="7004400" cy="24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Correlation is not Causation: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study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verify individual AI usage. It can only correlate the rise of LLMs with decreased readability of various texts.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Scope: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Analysis is restricted to abstracts, which represent a standardized summary but may not reflect the full text of the papers.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 Blindness: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Readability metrics can measure word/sentence length but ignore more subjective meaning or text quality.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Other Factors: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Observed trends could partially result from other factors such as field expansion or evolution of field-specific jargon, independent of AI tool use.</a:t>
            </a:r>
            <a:endParaRPr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91"/>
          <p:cNvSpPr txBox="1"/>
          <p:nvPr>
            <p:ph type="title"/>
          </p:nvPr>
        </p:nvSpPr>
        <p:spPr>
          <a:xfrm>
            <a:off x="668925" y="7537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745" name="Google Shape;745;p91"/>
          <p:cNvSpPr txBox="1"/>
          <p:nvPr>
            <p:ph idx="1" type="subTitle"/>
          </p:nvPr>
        </p:nvSpPr>
        <p:spPr>
          <a:xfrm>
            <a:off x="668925" y="1633650"/>
            <a:ext cx="7537800" cy="27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statistically significant increase in language complexity is observed across Computer Science, Medicine, and Business starting in 2023.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Computer Science exhibited the earliest and most stable trend.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use of LLMs correlates with denser vocabulary and longer sentences. Researchers using AI tools need to be aware of LLMs </a:t>
            </a:r>
            <a:r>
              <a:rPr lang="en"/>
              <a:t>favouring complexity over readability for scientific writing.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Final Implication</a:t>
            </a:r>
            <a:r>
              <a:rPr lang="en"/>
              <a:t>: While AI aids productivity, the data warns of a potential trade-off. Technological progress must not come at the expense of scientific clarity.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92"/>
          <p:cNvGrpSpPr/>
          <p:nvPr/>
        </p:nvGrpSpPr>
        <p:grpSpPr>
          <a:xfrm>
            <a:off x="0" y="-150"/>
            <a:ext cx="9144000" cy="2572200"/>
            <a:chOff x="0" y="-150"/>
            <a:chExt cx="9144000" cy="2572200"/>
          </a:xfrm>
        </p:grpSpPr>
        <p:sp>
          <p:nvSpPr>
            <p:cNvPr id="751" name="Google Shape;751;p92"/>
            <p:cNvSpPr/>
            <p:nvPr/>
          </p:nvSpPr>
          <p:spPr>
            <a:xfrm>
              <a:off x="0" y="1649975"/>
              <a:ext cx="9144000" cy="57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52" name="Google Shape;752;p92"/>
            <p:cNvCxnSpPr/>
            <p:nvPr/>
          </p:nvCxnSpPr>
          <p:spPr>
            <a:xfrm rot="10800000">
              <a:off x="8430313" y="-150"/>
              <a:ext cx="0" cy="2572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53" name="Google Shape;753;p92"/>
          <p:cNvSpPr txBox="1"/>
          <p:nvPr>
            <p:ph type="title"/>
          </p:nvPr>
        </p:nvSpPr>
        <p:spPr>
          <a:xfrm>
            <a:off x="2310600" y="542000"/>
            <a:ext cx="45228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754" name="Google Shape;754;p92"/>
          <p:cNvSpPr txBox="1"/>
          <p:nvPr>
            <p:ph idx="1" type="subTitle"/>
          </p:nvPr>
        </p:nvSpPr>
        <p:spPr>
          <a:xfrm>
            <a:off x="2654700" y="2745381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755" name="Google Shape;755;p92"/>
          <p:cNvSpPr/>
          <p:nvPr/>
        </p:nvSpPr>
        <p:spPr>
          <a:xfrm>
            <a:off x="2509025" y="3181075"/>
            <a:ext cx="4310100" cy="860100"/>
          </a:xfrm>
          <a:prstGeom prst="rect">
            <a:avLst/>
          </a:prstGeom>
          <a:solidFill>
            <a:srgbClr val="F9F9F9"/>
          </a:solidFill>
          <a:ln cap="flat" cmpd="sng" w="9525">
            <a:solidFill>
              <a:srgbClr val="F9F9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B3C3CE"/>
      </a:dk2>
      <a:lt2>
        <a:srgbClr val="5F8195"/>
      </a:lt2>
      <a:accent1>
        <a:srgbClr val="869FB1"/>
      </a:accent1>
      <a:accent2>
        <a:srgbClr val="5F7D9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B3C3CE"/>
      </a:dk2>
      <a:lt2>
        <a:srgbClr val="5F8195"/>
      </a:lt2>
      <a:accent1>
        <a:srgbClr val="869FB1"/>
      </a:accent1>
      <a:accent2>
        <a:srgbClr val="5F7D95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